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SemiBold" panose="020B07060308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7995FE-E2E5-4953-8A2B-E98FD8CC2EE8}">
  <a:tblStyle styleId="{1C7995FE-E2E5-4953-8A2B-E98FD8CC2E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7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25316" y="2319337"/>
            <a:ext cx="1094136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AHAMADA LEVAGE &amp; STRUCTURES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85825" y="3157537"/>
            <a:ext cx="1042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Démonstration du modèle comptable d'une TPE (RS6485)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85825" y="4043362"/>
            <a:ext cx="10420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Soilihi AHAMADA BOURHANE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85825" y="4386262"/>
            <a:ext cx="10420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Coffreur | Grutier Qualifié BTP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20027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05125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Double Compétence Stratégique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25755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Fort de 8 années d'expérience (Travaux du Midi, Eiffage), je lance ma structure de sous-traitance dans le gros œuvre.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4850" y="38576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85762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Métier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Coffrages complexes, ferraillage, et grutage (CACES R487).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4850" y="41814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8147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Cible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Entreprises générales de construction (B2B) en région PACA.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4850" y="45053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50532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Valeur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Polyvalence levage/structure et sécurité absolue sur chantier.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238375"/>
            <a:ext cx="52578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Synthèse de votre projet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81287"/>
            <a:ext cx="35559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681287"/>
            <a:ext cx="35559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681287"/>
            <a:ext cx="35559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32632" y="3548062"/>
            <a:ext cx="32336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1. Réception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900487"/>
            <a:ext cx="3079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Signature des devis et validation conjointe des situations d'avancement de travaux en fin de mois avec le conducteur de travaux.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479082" y="3548062"/>
            <a:ext cx="32336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2. Stockage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56075" y="3900487"/>
            <a:ext cx="3079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Archivage numérique sur un Cloud partagé. Dossiers organisés : Factures d'achat (bois, BPE), Ventes (situations), et RH/Sécurité.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225533" y="3548062"/>
            <a:ext cx="32336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3. Transmission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02525" y="3900487"/>
            <a:ext cx="3079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Génération de l'export comptable mensuel (via logiciel) et envoi à l'expert-comptable pour la déclaration de TVA et suivi du bilan.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25575" y="3024187"/>
            <a:ext cx="247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301" y="3024187"/>
            <a:ext cx="419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8476" y="3024187"/>
            <a:ext cx="2476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Organisation Administrative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2719387"/>
            <a:ext cx="11049000" cy="22955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6"/>
          <p:cNvGraphicFramePr/>
          <p:nvPr/>
        </p:nvGraphicFramePr>
        <p:xfrm>
          <a:off x="571500" y="2719387"/>
          <a:ext cx="11049025" cy="2295500"/>
        </p:xfrm>
        <a:graphic>
          <a:graphicData uri="http://schemas.openxmlformats.org/drawingml/2006/table">
            <a:tbl>
              <a:tblPr firstRow="1" bandRow="1">
                <a:noFill/>
                <a:tableStyleId>{1C7995FE-E2E5-4953-8A2B-E98FD8CC2EE8}</a:tableStyleId>
              </a:tblPr>
              <a:tblGrid>
                <a:gridCol w="272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Indicateur Métier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Cible Mensuelle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Mois 1 (Réel)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Mois 2 (Réel)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Mois 3 (Réel)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Chiffre d'Affaires 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14 500 €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18 500 €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Taux de Marge Brute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60.0 %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57.5 %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62.1 %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63.0 %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Jours de production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 jours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 jours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 jours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 jours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Taux de Reprises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1.0 %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571500" y="3119437"/>
            <a:ext cx="2722215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293715" y="3119437"/>
            <a:ext cx="2387351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681067" y="3119437"/>
            <a:ext cx="1950541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631608" y="3119437"/>
            <a:ext cx="1994296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9625905" y="3119437"/>
            <a:ext cx="1994594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" y="3600450"/>
            <a:ext cx="2722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293715" y="3600450"/>
            <a:ext cx="2387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681067" y="3600450"/>
            <a:ext cx="1950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631608" y="3600450"/>
            <a:ext cx="1994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625905" y="3600450"/>
            <a:ext cx="1994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4067175"/>
            <a:ext cx="2722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293715" y="4067175"/>
            <a:ext cx="2387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681067" y="4067175"/>
            <a:ext cx="1950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631608" y="4067175"/>
            <a:ext cx="1994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625905" y="4067175"/>
            <a:ext cx="1994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1500" y="4533900"/>
            <a:ext cx="2722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293715" y="4533900"/>
            <a:ext cx="2387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681067" y="4533900"/>
            <a:ext cx="1950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631608" y="4533900"/>
            <a:ext cx="1994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625905" y="4533900"/>
            <a:ext cx="1994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71500" y="5000625"/>
            <a:ext cx="2722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293715" y="5000625"/>
            <a:ext cx="2387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681067" y="5000625"/>
            <a:ext cx="19505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631608" y="5000625"/>
            <a:ext cx="1994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625905" y="5000625"/>
            <a:ext cx="19945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Tableau de Bord &amp; Indicateurs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2714625"/>
            <a:ext cx="11049000" cy="2305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7"/>
          <p:cNvGraphicFramePr/>
          <p:nvPr/>
        </p:nvGraphicFramePr>
        <p:xfrm>
          <a:off x="571500" y="2714625"/>
          <a:ext cx="11049025" cy="2305000"/>
        </p:xfrm>
        <a:graphic>
          <a:graphicData uri="http://schemas.openxmlformats.org/drawingml/2006/table">
            <a:tbl>
              <a:tblPr firstRow="1" bandRow="1">
                <a:noFill/>
                <a:tableStyleId>{1C7995FE-E2E5-4953-8A2B-E98FD8CC2EE8}</a:tableStyleId>
              </a:tblPr>
              <a:tblGrid>
                <a:gridCol w="318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Prestation BTP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Tarif Unitaire (J)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1 (CA)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2 (CA)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3 (CA)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Levage &amp; Grutier qualifié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550 €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 j / 55 000 €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120 j / 66 000 €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 j / 77 000 €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Coffrage Voiles &amp; Dalles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140 j / 67 200 €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160 j / 76 800 €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175 j / 84 000 €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Ferraillage &amp; Coulage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110 j / 46 200 €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130 j / 54 600 €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145 j / 60 900 €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CA HT PRÉVISIONNEL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350 j / 168 400 €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410 j / 197 400 €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460 j / 221 900 €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17"/>
          <p:cNvSpPr/>
          <p:nvPr/>
        </p:nvSpPr>
        <p:spPr>
          <a:xfrm>
            <a:off x="571500" y="3114675"/>
            <a:ext cx="3185963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757463" y="3114675"/>
            <a:ext cx="2128093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885557" y="3114675"/>
            <a:ext cx="1911548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797105" y="3114675"/>
            <a:ext cx="1911548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9708653" y="3114675"/>
            <a:ext cx="1911846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71500" y="3595687"/>
            <a:ext cx="31859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3757463" y="3595687"/>
            <a:ext cx="2128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885557" y="3595687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797105" y="3595687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708653" y="3595687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4062412"/>
            <a:ext cx="31859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757463" y="4062412"/>
            <a:ext cx="2128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85557" y="4062412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7797105" y="4062412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9708653" y="4062412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71500" y="4533900"/>
            <a:ext cx="31859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757463" y="4533900"/>
            <a:ext cx="2128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885557" y="4533900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797105" y="4533900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9708653" y="4533900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71500" y="5005387"/>
            <a:ext cx="31859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71500" y="4543425"/>
            <a:ext cx="318596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757463" y="5005387"/>
            <a:ext cx="2128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757463" y="4543425"/>
            <a:ext cx="212809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885557" y="5005387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885557" y="4543425"/>
            <a:ext cx="1911548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797105" y="5005387"/>
            <a:ext cx="191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7797105" y="4543425"/>
            <a:ext cx="1911548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708653" y="5005387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9708653" y="4543425"/>
            <a:ext cx="1911846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Hypothèses de Chiffre d'Affaires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71500" y="1147762"/>
            <a:ext cx="11049000" cy="54387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8"/>
          <p:cNvGraphicFramePr/>
          <p:nvPr/>
        </p:nvGraphicFramePr>
        <p:xfrm>
          <a:off x="571500" y="11477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{1C7995FE-E2E5-4953-8A2B-E98FD8CC2EE8}</a:tableStyleId>
              </a:tblPr>
              <a:tblGrid>
                <a:gridCol w="515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ÉLÉMENTS FINANCIERS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INITIAL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ANNÉE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FONDS DE ROULEMENT (FR)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Capitaux Permanents (Fonds propres)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(-) Immobilisations (Véhicule d'intervention)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FONDS DE ROULEMENT (FR)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62 000 €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47556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BESOIN EN FONDS DE ROULEMENT (BFR)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Stocks (Bois de coffrage, Huiles)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4 500 €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(+) Créances Clients (Délai 30 jours)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18 500 €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(-) Dettes Fournisseurs (Délai 45 jours)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8 100 €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9 800 €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BFR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11 600 €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13 900 €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15 800 €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47556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TRÉSORERIE NETTE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TRÉSORERIE NETTE (FR - BFR)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+ 8 000 €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+ 13 400 €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+ 26 100 €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+ 46 200 €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5" name="Google Shape;205;p18"/>
          <p:cNvSpPr/>
          <p:nvPr/>
        </p:nvSpPr>
        <p:spPr>
          <a:xfrm>
            <a:off x="571500" y="1547812"/>
            <a:ext cx="5151387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722887" y="1547812"/>
            <a:ext cx="1377404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100292" y="1547812"/>
            <a:ext cx="1506587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606879" y="1547812"/>
            <a:ext cx="1506587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10113466" y="1547812"/>
            <a:ext cx="1507033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71500" y="1966912"/>
            <a:ext cx="110490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71500" y="2447925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722887" y="2447925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100292" y="24479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8606879" y="24479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10113466" y="2447925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71500" y="2919412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722887" y="2919412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7100292" y="2919412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606879" y="2919412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10113466" y="2919412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71500" y="3390900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500" y="2928937"/>
            <a:ext cx="51513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5722887" y="3390900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5722887" y="2928937"/>
            <a:ext cx="1377404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7100292" y="339090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7100292" y="2928937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8606879" y="339090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8606879" y="2928937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10113466" y="3390900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10113466" y="2928937"/>
            <a:ext cx="150703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571500" y="3795712"/>
            <a:ext cx="110490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71500" y="4276725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5722887" y="4276725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7100292" y="42767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606879" y="42767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0113466" y="4276725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71500" y="4743450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722887" y="4743450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100292" y="474345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606879" y="474345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10113466" y="4743450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71500" y="5214937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722887" y="5214937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7100292" y="5214937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8606879" y="5214937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10113466" y="5214937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71500" y="5686425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71500" y="5224462"/>
            <a:ext cx="51513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722887" y="5686425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722887" y="5224462"/>
            <a:ext cx="1377404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7100292" y="56864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7100292" y="5224462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606879" y="5686425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606879" y="5224462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0113466" y="5686425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10113466" y="5224462"/>
            <a:ext cx="150703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71500" y="6091237"/>
            <a:ext cx="110490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71500" y="6572250"/>
            <a:ext cx="51513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571500" y="6110287"/>
            <a:ext cx="51513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5722887" y="6572250"/>
            <a:ext cx="1377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5722887" y="6110287"/>
            <a:ext cx="1377404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7100292" y="657225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7100292" y="6110287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8606879" y="6572250"/>
            <a:ext cx="1506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8606879" y="6110287"/>
            <a:ext cx="15065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10113466" y="6572250"/>
            <a:ext cx="1507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10113466" y="6110287"/>
            <a:ext cx="150703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571500" y="347662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Fonds de Roulement / Besoin en Fonds de Roulement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571500" y="890587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571500" y="25860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Mentions Légales BTP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571500" y="2938462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 tant que sous-traitant (B2B), nos factures doivent strictement comporter :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704850" y="3395662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762000" y="3395662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Identification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SIRET, Code APE (Travaux maçonnerie), N° TVA.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704850" y="3719512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762000" y="37195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TVA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Facturation HT avec la mention : "Autoliquidation de la TVA - Article 283-2 nonies du CGI".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704850" y="4271962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762000" y="42719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Assurances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N° de police RC Pro et Garantie Décennale avec zone de couverture.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704850" y="4824412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762000" y="4824412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Pénalités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Taux de retard (BCE + 10%) et indemnité forfaitaire (40€).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Exemple de Facture Conforme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33C94C9-3CE7-1B32-15C8-CABB40C37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740" y="1779814"/>
            <a:ext cx="4123735" cy="3692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47987"/>
            <a:ext cx="254124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7419" y="2947987"/>
            <a:ext cx="254124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339" y="2947987"/>
            <a:ext cx="254124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9259" y="2947987"/>
            <a:ext cx="254124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571500" y="309086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717995" y="3148012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J + 2 (Après échéance)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771525" y="3452812"/>
            <a:ext cx="214119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Appel amiable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Contact direct avec le chef de chantier pour identifier un éventuel blocage administratif ou litige.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3553915" y="3148012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J + 10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3607444" y="3452812"/>
            <a:ext cx="21411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Relance écrite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Envoi d'un courriel formel de relance avec copie de la situation de travaux signée.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6389835" y="3148012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J + 20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6443364" y="3452812"/>
            <a:ext cx="214119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Mise en demeure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Lettre Recommandée (LRAR) exigeant le paiement. Application des pénalités et de l'indemnité forfaitaire.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9225755" y="3148012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J + 45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9279284" y="3452812"/>
            <a:ext cx="214119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Contentieux 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Arrêt des prestations de levage/coffrage sur le chantier et dépôt d'une Injonction de Payer au Tribunal.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Processus Impayé : Plan d'Action</a:t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1765920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4601840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7437759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10273679" y="391001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571500" y="2286000"/>
            <a:ext cx="11049000" cy="3162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1"/>
          <p:cNvGraphicFramePr/>
          <p:nvPr/>
        </p:nvGraphicFramePr>
        <p:xfrm>
          <a:off x="571500" y="2286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{1C7995FE-E2E5-4953-8A2B-E98FD8CC2EE8}</a:tableStyleId>
              </a:tblPr>
              <a:tblGrid>
                <a:gridCol w="192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26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3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Référence Matériau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Entrées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Sorties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Stock Initial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Mouvements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Stock Final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Stock Mini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Remarques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Bastaings de coffrage (ml)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Flux tendu, approvisionnement correct.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Huile de décoffrage (Fûts)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+ 0.5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Sécurisé, commande trimestrielle.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Élingues de Levage (Jeux)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Alerte : VGP (Vérification) imminente.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EPI (Kits sécurité)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Stock suffisant dans le véhicule.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0" name="Google Shape;320;p21"/>
          <p:cNvSpPr/>
          <p:nvPr/>
        </p:nvSpPr>
        <p:spPr>
          <a:xfrm>
            <a:off x="571500" y="2867025"/>
            <a:ext cx="1924645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2496145" y="2867025"/>
            <a:ext cx="904875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3401020" y="2867025"/>
            <a:ext cx="8382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239220" y="2867025"/>
            <a:ext cx="112395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363170" y="2867025"/>
            <a:ext cx="133350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696670" y="2867025"/>
            <a:ext cx="1067544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7764214" y="2867025"/>
            <a:ext cx="1030188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8794402" y="2867025"/>
            <a:ext cx="2826097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571500" y="3576637"/>
            <a:ext cx="19246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2496145" y="3576637"/>
            <a:ext cx="904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3401020" y="3576637"/>
            <a:ext cx="838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239220" y="3576637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363170" y="3576637"/>
            <a:ext cx="133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696670" y="3576637"/>
            <a:ext cx="1067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7764214" y="3576637"/>
            <a:ext cx="1030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8794402" y="3576637"/>
            <a:ext cx="2826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71500" y="4271962"/>
            <a:ext cx="19246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2496145" y="4271962"/>
            <a:ext cx="904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3401020" y="4271962"/>
            <a:ext cx="838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4239220" y="4271962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363170" y="4271962"/>
            <a:ext cx="133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696670" y="4271962"/>
            <a:ext cx="1067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7764214" y="4271962"/>
            <a:ext cx="1030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8794402" y="4271962"/>
            <a:ext cx="2826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71500" y="4967287"/>
            <a:ext cx="19246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2496145" y="4967287"/>
            <a:ext cx="904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401020" y="4967287"/>
            <a:ext cx="838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239220" y="4967287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5363170" y="4967287"/>
            <a:ext cx="133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6696670" y="4967287"/>
            <a:ext cx="1067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7764214" y="4967287"/>
            <a:ext cx="1030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8794402" y="4967287"/>
            <a:ext cx="2826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571500" y="5434012"/>
            <a:ext cx="19246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2496145" y="5434012"/>
            <a:ext cx="904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3401020" y="5434012"/>
            <a:ext cx="838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239220" y="5434012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5363170" y="5434012"/>
            <a:ext cx="133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6696670" y="5434012"/>
            <a:ext cx="10675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7764214" y="5434012"/>
            <a:ext cx="1030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8794402" y="5434012"/>
            <a:ext cx="2826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Gestion des Stocks (Matériaux)</a:t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71500" y="2633662"/>
            <a:ext cx="11049000" cy="2466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22"/>
          <p:cNvGraphicFramePr/>
          <p:nvPr/>
        </p:nvGraphicFramePr>
        <p:xfrm>
          <a:off x="571500" y="26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{1C7995FE-E2E5-4953-8A2B-E98FD8CC2EE8}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Poste de Dépense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Prévu (Mois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Réalisé (Mois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Écart Brut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Actions correctives à mener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Location Matériel (Banches)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1 800 €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1 650 €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- 150 €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Anticipation des retours de location (gain de jours de facturation du loueur). Bonne gestion.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Carburant &amp; Péages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450 €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580 €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+ 130 €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Chantier éloigné. Regroupement des trajets d'approvisionnement nécessaire.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Achat Petit Outillage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- 20 €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Entretien préventif de l'outillage électroportatif efficace.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9" name="Google Shape;369;p22"/>
          <p:cNvSpPr/>
          <p:nvPr/>
        </p:nvSpPr>
        <p:spPr>
          <a:xfrm>
            <a:off x="571500" y="3214687"/>
            <a:ext cx="1943992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2515492" y="3214687"/>
            <a:ext cx="1230064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3745557" y="3214687"/>
            <a:ext cx="1334839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5080396" y="3214687"/>
            <a:ext cx="99819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6078587" y="3214687"/>
            <a:ext cx="5541912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571500" y="3924300"/>
            <a:ext cx="1943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515492" y="3924300"/>
            <a:ext cx="1230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3745557" y="3924300"/>
            <a:ext cx="13348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5080396" y="3924300"/>
            <a:ext cx="998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6078587" y="3924300"/>
            <a:ext cx="5541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571500" y="4619625"/>
            <a:ext cx="1943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2515492" y="4619625"/>
            <a:ext cx="1230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3745557" y="4619625"/>
            <a:ext cx="13348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5080396" y="4619625"/>
            <a:ext cx="998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078587" y="4619625"/>
            <a:ext cx="5541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571500" y="5086350"/>
            <a:ext cx="1943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515492" y="5086350"/>
            <a:ext cx="1230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3745557" y="5086350"/>
            <a:ext cx="13348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5080396" y="5086350"/>
            <a:ext cx="998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078587" y="5086350"/>
            <a:ext cx="5541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Gestion des Écarts entre Prévisionnel et Réel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38462"/>
            <a:ext cx="53340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38462"/>
            <a:ext cx="533400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819150" y="3186112"/>
            <a:ext cx="508063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Batappli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819150" y="3538537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Devis &amp; Situations BTP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819150" y="3862387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Logiciel métier spécialisé permettant d'éditer les devis (basés sur les prix du marché), et de générer automatiquement les factures de situations avec la gestion des retenues de garantie.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6534150" y="3186112"/>
            <a:ext cx="508063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QuickBooks TPE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6534150" y="3538537"/>
            <a:ext cx="483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284C7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Compta &amp; Rapprochement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6534150" y="3862387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Outil synchronisé à la banque. Permet de scanner les BL et factures d'achat (Point.P) pour un suivi du budget en temps réel et un export facilité vers l'expert-comptable pour la TVA.</a:t>
            </a:r>
            <a:endParaRPr/>
          </a:p>
        </p:txBody>
      </p:sp>
      <p:pic>
        <p:nvPicPr>
          <p:cNvPr id="404" name="Google Shape;40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3205162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32051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 txBox="1"/>
          <p:nvPr/>
        </p:nvSpPr>
        <p:spPr>
          <a:xfrm>
            <a:off x="571500" y="4572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Outils Numériques d'Optimisation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5850" y="3800475"/>
            <a:ext cx="24003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5275" y="2162175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MERCI DE VOTRE ATTENTION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571500" y="31718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Avez-vous des questions sur AHAMADA Levage &amp; Structures ?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5295900" y="401002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ahamada.s@live.fr</a:t>
            </a:r>
            <a:endParaRPr/>
          </a:p>
        </p:txBody>
      </p:sp>
      <p:sp>
        <p:nvSpPr>
          <p:cNvPr id="417" name="Google Shape;417;p24"/>
          <p:cNvSpPr txBox="1"/>
          <p:nvPr/>
        </p:nvSpPr>
        <p:spPr>
          <a:xfrm>
            <a:off x="5295900" y="433387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06 52 63 29 12</a:t>
            </a:r>
            <a:endParaRPr/>
          </a:p>
        </p:txBody>
      </p:sp>
      <p:pic>
        <p:nvPicPr>
          <p:cNvPr id="418" name="Google Shape;41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5900" y="40481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8300" y="43719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Microsoft Office PowerPoint</Application>
  <PresentationFormat>Grand écran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Calibri</vt:lpstr>
      <vt:lpstr>Arial</vt:lpstr>
      <vt:lpstr>Montserrat</vt:lpstr>
      <vt:lpstr>Open Sans SemiBold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Annais Cam</cp:lastModifiedBy>
  <cp:revision>2</cp:revision>
  <dcterms:modified xsi:type="dcterms:W3CDTF">2026-06-05T20:56:05Z</dcterms:modified>
</cp:coreProperties>
</file>