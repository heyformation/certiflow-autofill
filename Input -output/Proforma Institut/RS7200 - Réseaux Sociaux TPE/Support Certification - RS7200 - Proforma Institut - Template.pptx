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846">
          <p15:clr>
            <a:srgbClr val="A4A3A4"/>
          </p15:clr>
        </p15:guide>
        <p15:guide id="2" pos="6834">
          <p15:clr>
            <a:srgbClr val="A4A3A4"/>
          </p15:clr>
        </p15:guide>
        <p15:guide id="3" orient="horz" pos="504">
          <p15:clr>
            <a:srgbClr val="A4A3A4"/>
          </p15:clr>
        </p15:guide>
        <p15:guide id="4" orient="horz" pos="3816">
          <p15:clr>
            <a:srgbClr val="A4A3A4"/>
          </p15:clr>
        </p15:guide>
        <p15:guide id="5" pos="3840">
          <p15:clr>
            <a:srgbClr val="A4A3A4"/>
          </p15:clr>
        </p15:guide>
        <p15:guide id="6" orient="horz" pos="2160">
          <p15:clr>
            <a:srgbClr val="A4A3A4"/>
          </p15:clr>
        </p15:guide>
        <p15:guide id="7" pos="1209">
          <p15:clr>
            <a:srgbClr val="A4A3A4"/>
          </p15:clr>
        </p15:guide>
        <p15:guide id="8" pos="6471">
          <p15:clr>
            <a:srgbClr val="A4A3A4"/>
          </p15:clr>
        </p15:guide>
        <p15:guide id="9" pos="4203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gnKlKN6Dua1tKxancjsqF3UWV3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46"/>
        <p:guide pos="6834"/>
        <p:guide pos="504" orient="horz"/>
        <p:guide pos="3816" orient="horz"/>
        <p:guide pos="3840"/>
        <p:guide pos="2160" orient="horz"/>
        <p:guide pos="1209"/>
        <p:guide pos="6471"/>
        <p:guide pos="4203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slide">
  <p:cSld name="Whit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57248" y="5935720"/>
            <a:ext cx="823333" cy="806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logos Slide">
  <p:cSld name="18 logos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7"/>
          <p:cNvSpPr txBox="1"/>
          <p:nvPr>
            <p:ph idx="1" type="body"/>
          </p:nvPr>
        </p:nvSpPr>
        <p:spPr>
          <a:xfrm>
            <a:off x="1492839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147"/>
          <p:cNvSpPr txBox="1"/>
          <p:nvPr>
            <p:ph idx="2" type="body"/>
          </p:nvPr>
        </p:nvSpPr>
        <p:spPr>
          <a:xfrm>
            <a:off x="3178922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147"/>
          <p:cNvSpPr txBox="1"/>
          <p:nvPr>
            <p:ph idx="3" type="body"/>
          </p:nvPr>
        </p:nvSpPr>
        <p:spPr>
          <a:xfrm>
            <a:off x="4865005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147"/>
          <p:cNvSpPr txBox="1"/>
          <p:nvPr>
            <p:ph idx="4" type="body"/>
          </p:nvPr>
        </p:nvSpPr>
        <p:spPr>
          <a:xfrm>
            <a:off x="6551088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47"/>
          <p:cNvSpPr txBox="1"/>
          <p:nvPr>
            <p:ph idx="5" type="body"/>
          </p:nvPr>
        </p:nvSpPr>
        <p:spPr>
          <a:xfrm>
            <a:off x="8237171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47"/>
          <p:cNvSpPr txBox="1"/>
          <p:nvPr>
            <p:ph idx="6" type="body"/>
          </p:nvPr>
        </p:nvSpPr>
        <p:spPr>
          <a:xfrm>
            <a:off x="9923253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7"/>
          <p:cNvSpPr txBox="1"/>
          <p:nvPr>
            <p:ph idx="7" type="body"/>
          </p:nvPr>
        </p:nvSpPr>
        <p:spPr>
          <a:xfrm>
            <a:off x="1492839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47"/>
          <p:cNvSpPr txBox="1"/>
          <p:nvPr>
            <p:ph idx="8" type="body"/>
          </p:nvPr>
        </p:nvSpPr>
        <p:spPr>
          <a:xfrm>
            <a:off x="3178922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47"/>
          <p:cNvSpPr txBox="1"/>
          <p:nvPr>
            <p:ph idx="9" type="body"/>
          </p:nvPr>
        </p:nvSpPr>
        <p:spPr>
          <a:xfrm>
            <a:off x="4865005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47"/>
          <p:cNvSpPr txBox="1"/>
          <p:nvPr>
            <p:ph idx="13" type="body"/>
          </p:nvPr>
        </p:nvSpPr>
        <p:spPr>
          <a:xfrm>
            <a:off x="6551088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7"/>
          <p:cNvSpPr txBox="1"/>
          <p:nvPr>
            <p:ph idx="14" type="body"/>
          </p:nvPr>
        </p:nvSpPr>
        <p:spPr>
          <a:xfrm>
            <a:off x="8237171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47"/>
          <p:cNvSpPr txBox="1"/>
          <p:nvPr>
            <p:ph idx="15" type="body"/>
          </p:nvPr>
        </p:nvSpPr>
        <p:spPr>
          <a:xfrm>
            <a:off x="9923253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47"/>
          <p:cNvSpPr txBox="1"/>
          <p:nvPr>
            <p:ph idx="16" type="body"/>
          </p:nvPr>
        </p:nvSpPr>
        <p:spPr>
          <a:xfrm>
            <a:off x="1492839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47"/>
          <p:cNvSpPr txBox="1"/>
          <p:nvPr>
            <p:ph idx="17" type="body"/>
          </p:nvPr>
        </p:nvSpPr>
        <p:spPr>
          <a:xfrm>
            <a:off x="3178922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47"/>
          <p:cNvSpPr txBox="1"/>
          <p:nvPr>
            <p:ph idx="18" type="body"/>
          </p:nvPr>
        </p:nvSpPr>
        <p:spPr>
          <a:xfrm>
            <a:off x="4865005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47"/>
          <p:cNvSpPr txBox="1"/>
          <p:nvPr>
            <p:ph idx="19" type="body"/>
          </p:nvPr>
        </p:nvSpPr>
        <p:spPr>
          <a:xfrm>
            <a:off x="6551088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47"/>
          <p:cNvSpPr txBox="1"/>
          <p:nvPr>
            <p:ph idx="20" type="body"/>
          </p:nvPr>
        </p:nvSpPr>
        <p:spPr>
          <a:xfrm>
            <a:off x="8237171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47"/>
          <p:cNvSpPr txBox="1"/>
          <p:nvPr>
            <p:ph idx="21" type="body"/>
          </p:nvPr>
        </p:nvSpPr>
        <p:spPr>
          <a:xfrm>
            <a:off x="9923253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2" name="Google Shape;32;p1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1">
  <p:cSld name="Chapter 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8"/>
          <p:cNvSpPr/>
          <p:nvPr>
            <p:ph idx="2" type="pic"/>
          </p:nvPr>
        </p:nvSpPr>
        <p:spPr>
          <a:xfrm>
            <a:off x="7535119" y="1105236"/>
            <a:ext cx="3903672" cy="464753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pic>
        <p:nvPicPr>
          <p:cNvPr id="35" name="Google Shape;35;p1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iner 13">
  <p:cSld name="Container 1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9"/>
          <p:cNvSpPr/>
          <p:nvPr>
            <p:ph idx="2" type="pic"/>
          </p:nvPr>
        </p:nvSpPr>
        <p:spPr>
          <a:xfrm>
            <a:off x="-1" y="0"/>
            <a:ext cx="12192000" cy="6857999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pic>
        <p:nvPicPr>
          <p:cNvPr id="38" name="Google Shape;38;p1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57248" y="5935720"/>
            <a:ext cx="823333" cy="806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rtWatch">
  <p:cSld name="SmartWatch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0"/>
          <p:cNvSpPr/>
          <p:nvPr>
            <p:ph idx="2" type="pic"/>
          </p:nvPr>
        </p:nvSpPr>
        <p:spPr>
          <a:xfrm>
            <a:off x="1657987" y="2600960"/>
            <a:ext cx="1327149" cy="1651804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pic>
        <p:nvPicPr>
          <p:cNvPr id="41" name="Google Shape;41;p1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c">
  <p:cSld name="iMac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1"/>
          <p:cNvSpPr/>
          <p:nvPr>
            <p:ph idx="2" type="pic"/>
          </p:nvPr>
        </p:nvSpPr>
        <p:spPr>
          <a:xfrm>
            <a:off x="1205230" y="1558545"/>
            <a:ext cx="4685030" cy="2633471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pic>
        <p:nvPicPr>
          <p:cNvPr id="44" name="Google Shape;44;p1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04800" lvl="2" marL="13716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/>
        </p:nvSpPr>
        <p:spPr>
          <a:xfrm>
            <a:off x="1343025" y="2575703"/>
            <a:ext cx="9505950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CERTIFICATION</a:t>
            </a:r>
            <a:endParaRPr b="1" i="0" sz="4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Communiquer sur les réseaux sociaux pour promouvoir sa TPE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/>
        </p:nvSpPr>
        <p:spPr>
          <a:xfrm>
            <a:off x="1343025" y="5470642"/>
            <a:ext cx="9319057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Nom – Prénom – Intitulé du projet/structure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/>
        </p:nvSpPr>
        <p:spPr>
          <a:xfrm>
            <a:off x="1304925" y="1519312"/>
            <a:ext cx="9505950" cy="877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INFOS IMPORTANTES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9"/>
          <p:cNvSpPr txBox="1"/>
          <p:nvPr/>
        </p:nvSpPr>
        <p:spPr>
          <a:xfrm>
            <a:off x="1343025" y="2753365"/>
            <a:ext cx="97008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Ceci est un support proposé pour que vous puissiez synthétiser le contenu de votre dossier complet.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Vous êtes libre de créer votre propre support de présentation.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Vous disposerez de 20 minutes pour présenter ce document ainsi qu’une ou des pages professionnelles créées sur les réseaux choisis.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Ne soyez pas trop exhaustif, ce support oral vient appuyer des éléments qui doivent être plus détaillés dans votre rendu écrit.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" name="Google Shape;58;p9"/>
          <p:cNvSpPr txBox="1"/>
          <p:nvPr/>
        </p:nvSpPr>
        <p:spPr>
          <a:xfrm>
            <a:off x="3552548" y="5498912"/>
            <a:ext cx="69323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n-US" sz="16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Illustrez vos contenus, créez un support aéré, harmonisez les polices.</a:t>
            </a:r>
            <a:endParaRPr b="1" i="1" sz="16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Badge à suivre avec un remplissage uni" id="59" name="Google Shape;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8148" y="5226378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/>
        </p:nvSpPr>
        <p:spPr>
          <a:xfrm>
            <a:off x="1119889" y="418038"/>
            <a:ext cx="9952200" cy="43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2800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PRÉSENTATION</a:t>
            </a: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 DU PROJET / DE L’ENTREPRISE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1119889" y="1172070"/>
            <a:ext cx="9952221" cy="914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Cette section sert d'introduction.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ici votre projet ou votre entreprise, votre secteur d'activité, ainsi que toute autre information que vous jugez pertinente.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/>
        </p:nvSpPr>
        <p:spPr>
          <a:xfrm>
            <a:off x="1119889" y="1172070"/>
            <a:ext cx="9952221" cy="609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Détaillez ici votre persona ou vos persona si vous en avez plusieurs (par exemple 1 pour Instagram et 1 pour un autre réseau).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1119889" y="418038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LES CIBLES PRIORITAIRES (SEGMENTS CLIENTS)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e concept de persona en marketing digital, quèsaco ?" id="73" name="Google Shape;73;p13"/>
          <p:cNvPicPr preferRelativeResize="0"/>
          <p:nvPr/>
        </p:nvPicPr>
        <p:blipFill rotWithShape="1">
          <a:blip r:embed="rId4">
            <a:alphaModFix/>
          </a:blip>
          <a:srcRect b="49551" l="24965" r="49217" t="1486"/>
          <a:stretch/>
        </p:blipFill>
        <p:spPr>
          <a:xfrm>
            <a:off x="2105024" y="2599043"/>
            <a:ext cx="1517388" cy="13819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e concept de persona en marketing digital, quèsaco ?" id="74" name="Google Shape;74;p13"/>
          <p:cNvPicPr preferRelativeResize="0"/>
          <p:nvPr/>
        </p:nvPicPr>
        <p:blipFill rotWithShape="1">
          <a:blip r:embed="rId4">
            <a:alphaModFix/>
          </a:blip>
          <a:srcRect b="48925" l="279" r="73902" t="1747"/>
          <a:stretch/>
        </p:blipFill>
        <p:spPr>
          <a:xfrm>
            <a:off x="6168084" y="2593872"/>
            <a:ext cx="1517387" cy="1392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e concept de persona en marketing digital, quèsaco ?" id="75" name="Google Shape;75;p13"/>
          <p:cNvPicPr preferRelativeResize="0"/>
          <p:nvPr/>
        </p:nvPicPr>
        <p:blipFill rotWithShape="1">
          <a:blip r:embed="rId4">
            <a:alphaModFix/>
          </a:blip>
          <a:srcRect b="50480" l="50125" r="25660" t="2601"/>
          <a:stretch/>
        </p:blipFill>
        <p:spPr>
          <a:xfrm>
            <a:off x="4183684" y="2627834"/>
            <a:ext cx="1423128" cy="13244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e concept de persona en marketing digital, quèsaco ?" id="76" name="Google Shape;76;p13"/>
          <p:cNvPicPr preferRelativeResize="0"/>
          <p:nvPr/>
        </p:nvPicPr>
        <p:blipFill rotWithShape="1">
          <a:blip r:embed="rId4">
            <a:alphaModFix/>
          </a:blip>
          <a:srcRect b="49353" l="74183" r="1099" t="2212"/>
          <a:stretch/>
        </p:blipFill>
        <p:spPr>
          <a:xfrm>
            <a:off x="8246742" y="2606455"/>
            <a:ext cx="1452722" cy="1367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0"/>
          <p:cNvSpPr txBox="1"/>
          <p:nvPr/>
        </p:nvSpPr>
        <p:spPr>
          <a:xfrm>
            <a:off x="1119889" y="1207351"/>
            <a:ext cx="9952221" cy="609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Indiquez quels canaux vous choisissez, offline (hors ligne) et online (en ligne), et justifiez ces choix.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0"/>
          <p:cNvSpPr txBox="1"/>
          <p:nvPr/>
        </p:nvSpPr>
        <p:spPr>
          <a:xfrm>
            <a:off x="1119889" y="412362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LE CHOIX DES CANAUX DE COMMUNICATION 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3" name="Google Shape;83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5"/>
          <p:cNvSpPr txBox="1"/>
          <p:nvPr/>
        </p:nvSpPr>
        <p:spPr>
          <a:xfrm>
            <a:off x="1119889" y="1240008"/>
            <a:ext cx="9721215" cy="914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Indiquez les objectifs de votre stratégie.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Ces objectifs doivent répondre à la méthode SMART.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55"/>
          <p:cNvSpPr txBox="1"/>
          <p:nvPr/>
        </p:nvSpPr>
        <p:spPr>
          <a:xfrm>
            <a:off x="1119889" y="423248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LES OBJECTIFS DE COMMUNICATION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7"/>
          <p:cNvSpPr txBox="1"/>
          <p:nvPr/>
        </p:nvSpPr>
        <p:spPr>
          <a:xfrm>
            <a:off x="1119889" y="1199949"/>
            <a:ext cx="9952200" cy="914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Indiquez ici le choix des KPI (indicateurs de performance) que vous allez suivre.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Les KPI doivent être en cohérence avec vos objectifs de communication et les canaux choisis.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7"/>
          <p:cNvSpPr txBox="1"/>
          <p:nvPr/>
        </p:nvSpPr>
        <p:spPr>
          <a:xfrm>
            <a:off x="1119889" y="445020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LES INDICATEURS DE 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9"/>
          <p:cNvSpPr txBox="1"/>
          <p:nvPr/>
        </p:nvSpPr>
        <p:spPr>
          <a:xfrm>
            <a:off x="1119890" y="1227381"/>
            <a:ext cx="9952220" cy="914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Logo, couleurs, polices, icônes et pictogrammes, image d’usage.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Donnez des informations sur la « forme » 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9"/>
          <p:cNvSpPr txBox="1"/>
          <p:nvPr/>
        </p:nvSpPr>
        <p:spPr>
          <a:xfrm>
            <a:off x="1119889" y="455906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LA CHARTE GRAPHIQUE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1"/>
          <p:cNvSpPr txBox="1"/>
          <p:nvPr/>
        </p:nvSpPr>
        <p:spPr>
          <a:xfrm>
            <a:off x="1119889" y="1218237"/>
            <a:ext cx="8998839" cy="1218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 ton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Autopromotion / Conseils &amp; astuces / User Generated Content / Univers anenexes</a:t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714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Illustrez tous ces points à travers un post que vous aurez créé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1"/>
          <p:cNvSpPr txBox="1"/>
          <p:nvPr/>
        </p:nvSpPr>
        <p:spPr>
          <a:xfrm>
            <a:off x="1119889" y="401477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LES MESSAGES &amp; CONTENUS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3"/>
          <p:cNvSpPr txBox="1"/>
          <p:nvPr/>
        </p:nvSpPr>
        <p:spPr>
          <a:xfrm>
            <a:off x="1119889" y="1236525"/>
            <a:ext cx="8175879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Création d’un mois 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3"/>
          <p:cNvSpPr txBox="1"/>
          <p:nvPr/>
        </p:nvSpPr>
        <p:spPr>
          <a:xfrm>
            <a:off x="1119889" y="423248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LE PLANNING ÉDITORIAL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5"/>
          <p:cNvSpPr txBox="1"/>
          <p:nvPr/>
        </p:nvSpPr>
        <p:spPr>
          <a:xfrm>
            <a:off x="1119889" y="1209093"/>
            <a:ext cx="8175879" cy="609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Indiquer ici le tableau de gestion des stocks vous permettant d’optimiser les réassorts et d’éviter la rupture.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5"/>
          <p:cNvSpPr txBox="1"/>
          <p:nvPr/>
        </p:nvSpPr>
        <p:spPr>
          <a:xfrm>
            <a:off x="1119889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LE BUDGET DE COMMUNICATION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6"/>
          <p:cNvSpPr txBox="1"/>
          <p:nvPr/>
        </p:nvSpPr>
        <p:spPr>
          <a:xfrm>
            <a:off x="1119889" y="466791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L’E-INFLUENCE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6"/>
          <p:cNvSpPr txBox="1"/>
          <p:nvPr/>
        </p:nvSpPr>
        <p:spPr>
          <a:xfrm>
            <a:off x="1119889" y="1227381"/>
            <a:ext cx="8175879" cy="1218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Choix du réseau social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Choix de l’influenceur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Modalités du partenariat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Choix des indicateurs</a:t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/>
        </p:nvSpPr>
        <p:spPr>
          <a:xfrm>
            <a:off x="1119889" y="1190805"/>
            <a:ext cx="8175879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Quels outils pour quelles tâches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1119889" y="423248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LES OUTILS UTILISÉS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/>
        </p:nvSpPr>
        <p:spPr>
          <a:xfrm>
            <a:off x="1119889" y="1199949"/>
            <a:ext cx="8175900" cy="21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Décrivez une campagne type qui permettrait à votre projet/entreprise de gagner en visibilité. Pour cela, décrivez brièvement :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 ou les visuels utilisés, 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les textes, 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 bouton “CTA”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 détail du paramétrage de l'audience cible.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1119889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CAMPAGNE PUBLICITAIRE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7"/>
          <p:cNvSpPr txBox="1"/>
          <p:nvPr/>
        </p:nvSpPr>
        <p:spPr>
          <a:xfrm>
            <a:off x="1119889" y="1218237"/>
            <a:ext cx="8175879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Captures d’écrans &amp; explications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67"/>
          <p:cNvSpPr txBox="1"/>
          <p:nvPr/>
        </p:nvSpPr>
        <p:spPr>
          <a:xfrm>
            <a:off x="1119889" y="445019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LA PAGE PROFESSIONNELLE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Personnalisé 1">
      <a:dk1>
        <a:srgbClr val="3EB9BC"/>
      </a:dk1>
      <a:lt1>
        <a:srgbClr val="FFFFFF"/>
      </a:lt1>
      <a:dk2>
        <a:srgbClr val="3EB9BC"/>
      </a:dk2>
      <a:lt2>
        <a:srgbClr val="F8F8F8"/>
      </a:lt2>
      <a:accent1>
        <a:srgbClr val="3EB9BC"/>
      </a:accent1>
      <a:accent2>
        <a:srgbClr val="FEE042"/>
      </a:accent2>
      <a:accent3>
        <a:srgbClr val="F6F6F6"/>
      </a:accent3>
      <a:accent4>
        <a:srgbClr val="3EB9BC"/>
      </a:accent4>
      <a:accent5>
        <a:srgbClr val="3EB9BC"/>
      </a:accent5>
      <a:accent6>
        <a:srgbClr val="3EB9BC"/>
      </a:accent6>
      <a:hlink>
        <a:srgbClr val="3EB9BC"/>
      </a:hlink>
      <a:folHlink>
        <a:srgbClr val="FEE04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2018-11-08T16:43:29Z</dcterms:created>
  <dc:creator>Jerome BESTEL;Slidor</dc:creator>
</cp:coreProperties>
</file>