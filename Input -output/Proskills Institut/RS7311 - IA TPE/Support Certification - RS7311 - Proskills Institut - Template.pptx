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46">
          <p15:clr>
            <a:srgbClr val="A4A3A4"/>
          </p15:clr>
        </p15:guide>
        <p15:guide id="2" pos="6834">
          <p15:clr>
            <a:srgbClr val="A4A3A4"/>
          </p15:clr>
        </p15:guide>
        <p15:guide id="3" orient="horz" pos="504">
          <p15:clr>
            <a:srgbClr val="A4A3A4"/>
          </p15:clr>
        </p15:guide>
        <p15:guide id="4" orient="horz" pos="3816">
          <p15:clr>
            <a:srgbClr val="A4A3A4"/>
          </p15:clr>
        </p15:guide>
        <p15:guide id="5" pos="3840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pos="1209">
          <p15:clr>
            <a:srgbClr val="A4A3A4"/>
          </p15:clr>
        </p15:guide>
        <p15:guide id="8" pos="6471">
          <p15:clr>
            <a:srgbClr val="A4A3A4"/>
          </p15:clr>
        </p15:guide>
        <p15:guide id="9" pos="4203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nTMLiruai9gBevLETi4W1oPgA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62CB4E-0171-463C-8D27-94F43F197E5D}">
  <a:tblStyle styleId="{F262CB4E-0171-463C-8D27-94F43F197E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6"/>
        <p:guide pos="6834"/>
        <p:guide pos="504" orient="horz"/>
        <p:guide pos="3816" orient="horz"/>
        <p:guide pos="3840"/>
        <p:guide pos="2160" orient="horz"/>
        <p:guide pos="1209"/>
        <p:guide pos="6471"/>
        <p:guide pos="420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Quattrocento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customschemas.google.com/relationships/presentationmetadata" Target="meta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041fdfd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041fdfd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9041fdfd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041fdfde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b9041fdfde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9041fdfde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b9041fdfde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9041fdfde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b9041fdfde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9041fdfde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b9041fdfde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9041fdfde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b9041fdfde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9041fdfd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b9041fdfd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9041fdfde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b9041fdfde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900fa9a4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b900fa9a4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logos Slide">
  <p:cSld name="18 logos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7"/>
          <p:cNvSpPr txBox="1"/>
          <p:nvPr>
            <p:ph idx="1" type="body"/>
          </p:nvPr>
        </p:nvSpPr>
        <p:spPr>
          <a:xfrm>
            <a:off x="1492839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47"/>
          <p:cNvSpPr txBox="1"/>
          <p:nvPr>
            <p:ph idx="2" type="body"/>
          </p:nvPr>
        </p:nvSpPr>
        <p:spPr>
          <a:xfrm>
            <a:off x="3178922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47"/>
          <p:cNvSpPr txBox="1"/>
          <p:nvPr>
            <p:ph idx="3" type="body"/>
          </p:nvPr>
        </p:nvSpPr>
        <p:spPr>
          <a:xfrm>
            <a:off x="4865005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47"/>
          <p:cNvSpPr txBox="1"/>
          <p:nvPr>
            <p:ph idx="4" type="body"/>
          </p:nvPr>
        </p:nvSpPr>
        <p:spPr>
          <a:xfrm>
            <a:off x="6551088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7"/>
          <p:cNvSpPr txBox="1"/>
          <p:nvPr>
            <p:ph idx="5" type="body"/>
          </p:nvPr>
        </p:nvSpPr>
        <p:spPr>
          <a:xfrm>
            <a:off x="8237171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47"/>
          <p:cNvSpPr txBox="1"/>
          <p:nvPr>
            <p:ph idx="6" type="body"/>
          </p:nvPr>
        </p:nvSpPr>
        <p:spPr>
          <a:xfrm>
            <a:off x="9923253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7"/>
          <p:cNvSpPr txBox="1"/>
          <p:nvPr>
            <p:ph idx="7" type="body"/>
          </p:nvPr>
        </p:nvSpPr>
        <p:spPr>
          <a:xfrm>
            <a:off x="1492839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7"/>
          <p:cNvSpPr txBox="1"/>
          <p:nvPr>
            <p:ph idx="8" type="body"/>
          </p:nvPr>
        </p:nvSpPr>
        <p:spPr>
          <a:xfrm>
            <a:off x="3178922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7"/>
          <p:cNvSpPr txBox="1"/>
          <p:nvPr>
            <p:ph idx="9" type="body"/>
          </p:nvPr>
        </p:nvSpPr>
        <p:spPr>
          <a:xfrm>
            <a:off x="4865005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47"/>
          <p:cNvSpPr txBox="1"/>
          <p:nvPr>
            <p:ph idx="13" type="body"/>
          </p:nvPr>
        </p:nvSpPr>
        <p:spPr>
          <a:xfrm>
            <a:off x="6551088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7"/>
          <p:cNvSpPr txBox="1"/>
          <p:nvPr>
            <p:ph idx="14" type="body"/>
          </p:nvPr>
        </p:nvSpPr>
        <p:spPr>
          <a:xfrm>
            <a:off x="8237171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7"/>
          <p:cNvSpPr txBox="1"/>
          <p:nvPr>
            <p:ph idx="15" type="body"/>
          </p:nvPr>
        </p:nvSpPr>
        <p:spPr>
          <a:xfrm>
            <a:off x="9923253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7"/>
          <p:cNvSpPr txBox="1"/>
          <p:nvPr>
            <p:ph idx="16" type="body"/>
          </p:nvPr>
        </p:nvSpPr>
        <p:spPr>
          <a:xfrm>
            <a:off x="1492839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7"/>
          <p:cNvSpPr txBox="1"/>
          <p:nvPr>
            <p:ph idx="17" type="body"/>
          </p:nvPr>
        </p:nvSpPr>
        <p:spPr>
          <a:xfrm>
            <a:off x="3178922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7"/>
          <p:cNvSpPr txBox="1"/>
          <p:nvPr>
            <p:ph idx="18" type="body"/>
          </p:nvPr>
        </p:nvSpPr>
        <p:spPr>
          <a:xfrm>
            <a:off x="4865005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7"/>
          <p:cNvSpPr txBox="1"/>
          <p:nvPr>
            <p:ph idx="19" type="body"/>
          </p:nvPr>
        </p:nvSpPr>
        <p:spPr>
          <a:xfrm>
            <a:off x="6551088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47"/>
          <p:cNvSpPr txBox="1"/>
          <p:nvPr>
            <p:ph idx="20" type="body"/>
          </p:nvPr>
        </p:nvSpPr>
        <p:spPr>
          <a:xfrm>
            <a:off x="8237171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7"/>
          <p:cNvSpPr txBox="1"/>
          <p:nvPr>
            <p:ph idx="21" type="body"/>
          </p:nvPr>
        </p:nvSpPr>
        <p:spPr>
          <a:xfrm>
            <a:off x="9923253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1">
  <p:cSld name="Chapter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8"/>
          <p:cNvSpPr/>
          <p:nvPr>
            <p:ph idx="2" type="pic"/>
          </p:nvPr>
        </p:nvSpPr>
        <p:spPr>
          <a:xfrm>
            <a:off x="7535119" y="1105236"/>
            <a:ext cx="3903672" cy="464753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5" name="Google Shape;35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3">
  <p:cSld name="Container 1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9"/>
          <p:cNvSpPr/>
          <p:nvPr>
            <p:ph idx="2" type="pic"/>
          </p:nvPr>
        </p:nvSpPr>
        <p:spPr>
          <a:xfrm>
            <a:off x="-1" y="0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8" name="Google Shape;38;p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Watch">
  <p:cSld name="SmartWatch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0"/>
          <p:cNvSpPr/>
          <p:nvPr>
            <p:ph idx="2" type="pic"/>
          </p:nvPr>
        </p:nvSpPr>
        <p:spPr>
          <a:xfrm>
            <a:off x="1657987" y="2600960"/>
            <a:ext cx="1327149" cy="1651804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1" name="Google Shape;41;p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c">
  <p:cSld name="iMac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1"/>
          <p:cNvSpPr/>
          <p:nvPr>
            <p:ph idx="2" type="pic"/>
          </p:nvPr>
        </p:nvSpPr>
        <p:spPr>
          <a:xfrm>
            <a:off x="1205230" y="1558545"/>
            <a:ext cx="4685030" cy="2633471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4" name="Google Shape;44;p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/>
        </p:nvSpPr>
        <p:spPr>
          <a:xfrm>
            <a:off x="1343025" y="2575703"/>
            <a:ext cx="950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CERTIFICATION</a:t>
            </a:r>
            <a:endParaRPr b="1" i="0" sz="4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Améliorer l’efficacité de sa TPE à l’aide de l’IA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/>
        </p:nvSpPr>
        <p:spPr>
          <a:xfrm>
            <a:off x="1343025" y="5470642"/>
            <a:ext cx="9319057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Nom – Prénom – Intitulé du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/>
        </p:nvSpPr>
        <p:spPr>
          <a:xfrm>
            <a:off x="1304925" y="1519312"/>
            <a:ext cx="9505950" cy="877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INFOS IMPORTANTES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1343025" y="2753365"/>
            <a:ext cx="9700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Ceci est un support proposé pour que vous puissiez synthétiser le contenu de votre dossier complet. 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Vous êtes libre de créer votre propre support de présentation mais </a:t>
            </a:r>
            <a:r>
              <a:rPr b="1" i="1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tou</a:t>
            </a:r>
            <a:r>
              <a:rPr b="1" i="1" lang="en-US">
                <a:latin typeface="Trebuchet MS"/>
                <a:ea typeface="Trebuchet MS"/>
                <a:cs typeface="Trebuchet MS"/>
                <a:sym typeface="Trebuchet MS"/>
              </a:rPr>
              <a:t>s les contenus doivent être abordés</a:t>
            </a:r>
            <a:r>
              <a:rPr b="1" i="1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1" i="1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Les slides avec un </a:t>
            </a:r>
            <a:r>
              <a:rPr lang="en-US">
                <a:highlight>
                  <a:srgbClr val="FF0000"/>
                </a:highlight>
                <a:latin typeface="Trebuchet MS"/>
                <a:ea typeface="Trebuchet MS"/>
                <a:cs typeface="Trebuchet MS"/>
                <a:sym typeface="Trebuchet MS"/>
              </a:rPr>
              <a:t>titre rouge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 sont des exemples pour vous aider à comprendre les attendus.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Vous disposerez de 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0 minutes pour présenter ce document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, suivies de 10 minutes de Q/R avec le jury.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Ne soyez pas trop exhaustif, ce support oral vient appuyer des éléments qui doivent être plus détaillés dans votre rendu écrit.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3667573" y="5545078"/>
            <a:ext cx="69323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Illustrez vos contenus, créez un support aéré, harmonisez les polices.</a:t>
            </a:r>
            <a:endParaRPr b="1" i="1" sz="12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Badge à suivre avec un remplissage uni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148" y="522637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343025" y="1218225"/>
            <a:ext cx="9952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Détaillez ici les composantes de votre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TPE ainsi que vos objectifs mesurables d’amélioration. Préciser les contraintes et risques ainsi que le plan de déploiement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COMPOSANTES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" name="Google Shape;67;p13"/>
          <p:cNvGraphicFramePr/>
          <p:nvPr/>
        </p:nvGraphicFramePr>
        <p:xfrm>
          <a:off x="13430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{F262CB4E-0171-463C-8D27-94F43F197E5D}</a:tableStyleId>
              </a:tblPr>
              <a:tblGrid>
                <a:gridCol w="2488050"/>
                <a:gridCol w="2488050"/>
                <a:gridCol w="2488050"/>
                <a:gridCol w="2488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Indicateur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Avant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Aprés visé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Moyen de mesure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9041fdfde_0_0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COMPOSANTES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b9041fdfde_0_0"/>
          <p:cNvSpPr txBox="1"/>
          <p:nvPr/>
        </p:nvSpPr>
        <p:spPr>
          <a:xfrm>
            <a:off x="1343025" y="1218225"/>
            <a:ext cx="99522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La TPE fictive « L’Atelier Vert » est une entreprise artisanale de 2 personnes spécialisée dans la fabrication et la vente de cosmétiques naturels.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Elle commercialise ses produits via un site e-commerce et communique principalement sur Instagram.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L’entreprise souhaite améliorer son efficacité opérationnelle et sa communication grâce à l’intelligence artificielle, sans recruter ni augmenter sa charge de travail.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Objectifs d’amélioration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Réduire le temps consacré aux tâches répétitives.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Améliorer la qualité et la cohérence des contenus de communication.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Faciliter l’analyse des retours clients.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Optimiser certains processus simples.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Contraintes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limité.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Peu de connaissance technique.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Respect du RGPD et vigilance sur les données clients.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0"/>
          <p:cNvSpPr txBox="1"/>
          <p:nvPr/>
        </p:nvSpPr>
        <p:spPr>
          <a:xfrm>
            <a:off x="1343025" y="1218237"/>
            <a:ext cx="73038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Décrivez ici les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opportunités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identifiées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opportunités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justifications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adaptations possibles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éléments éthiques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impact sur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l'environnement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et bonnes pratiques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" name="Google Shape;80;p100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OPPORTUNITÉS D'APPLICATION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1" name="Google Shape;8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9041fdfde_0_6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OPPORTUNITÉS D'APPLICATION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" name="Google Shape;87;g3b9041fdfde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Google Shape;88;g3b9041fdfde_0_6"/>
          <p:cNvGraphicFramePr/>
          <p:nvPr/>
        </p:nvGraphicFramePr>
        <p:xfrm>
          <a:off x="1287250" y="14736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{F262CB4E-0171-463C-8D27-94F43F197E5D}</a:tableStyleId>
              </a:tblPr>
              <a:tblGrid>
                <a:gridCol w="1990450"/>
                <a:gridCol w="1990450"/>
                <a:gridCol w="1990450"/>
                <a:gridCol w="1990450"/>
                <a:gridCol w="1990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Opportunités d’application de l’IA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Justifications (optimisation attendue)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Adaptations possibles (accessibilité)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Cadre éthique et réglementaire (RGPD)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Impact environnemental &amp; bonnes pratiques</a:t>
                      </a:r>
                      <a:endParaRPr b="1"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Génération de contenus de communication (posts réseaux sociaux, descriptions produits)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Réduction du temps de rédaction et amélioration de la cohérence des contenus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Structuration claire des textes, reformulation simplifiée, langage accessible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Relecture humaine systématique, absence de données personnelles injectées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Limiter le nombre de générations, réutilisation des contenus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Synthèse des avis et messages clients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Facilitation de l’analyse de données qualitatives dispersées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Synthèse textuelle claire, hiérarchisation des informations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Anonymisation des données, utilisation de données non sensibles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Usage ponctuel ciblé, suppression des données après analyse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Aide à la préparation de réponses aux emails clients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Gain de temps sur des réponses récurrentes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Modèles de réponses structurés et adaptables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Validation humaine avant envoi, protection des données clients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Automatisations limitées aux besoins réels</a:t>
                      </a:r>
                      <a:endParaRPr sz="15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5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OPPORTUNITÉS </a:t>
            </a: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D'APPLICATION</a:t>
            </a:r>
            <a:endParaRPr b="1" sz="28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4" name="Google Shape;94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" name="Google Shape;95;p155"/>
          <p:cNvGraphicFramePr/>
          <p:nvPr/>
        </p:nvGraphicFramePr>
        <p:xfrm>
          <a:off x="12873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{F262CB4E-0171-463C-8D27-94F43F197E5D}</a:tableStyleId>
              </a:tblPr>
              <a:tblGrid>
                <a:gridCol w="1658700"/>
                <a:gridCol w="1658700"/>
                <a:gridCol w="1945725"/>
                <a:gridCol w="1371675"/>
                <a:gridCol w="1658700"/>
                <a:gridCol w="1658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Opportunité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Problème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Ce qu’elle améliore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Indicateur visés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Risques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Décision</a:t>
                      </a:r>
                      <a:endParaRPr b="1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96" name="Google Shape;96;p155"/>
          <p:cNvSpPr txBox="1"/>
          <p:nvPr/>
        </p:nvSpPr>
        <p:spPr>
          <a:xfrm>
            <a:off x="1343025" y="1218225"/>
            <a:ext cx="995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Autre exemple de tableau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7"/>
          <p:cNvSpPr txBox="1"/>
          <p:nvPr/>
        </p:nvSpPr>
        <p:spPr>
          <a:xfrm>
            <a:off x="1343025" y="1218237"/>
            <a:ext cx="99522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ici le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 contenus générés et leur prompt</a:t>
            </a:r>
            <a:b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Au moins 2 contenus différents (articles, visuels, vidéos, supports interactifs, emails…) sont attendus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157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CONTENUS GÉNÉRÉS</a:t>
            </a:r>
            <a:endParaRPr/>
          </a:p>
        </p:txBody>
      </p:sp>
      <p:pic>
        <p:nvPicPr>
          <p:cNvPr id="103" name="Google Shape;103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9041fdfde_0_29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CONTENUS GÉNÉRÉS</a:t>
            </a:r>
            <a:endParaRPr/>
          </a:p>
        </p:txBody>
      </p:sp>
      <p:pic>
        <p:nvPicPr>
          <p:cNvPr id="109" name="Google Shape;109;g3b9041fdfde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b9041fdfde_0_29"/>
          <p:cNvSpPr txBox="1"/>
          <p:nvPr/>
        </p:nvSpPr>
        <p:spPr>
          <a:xfrm>
            <a:off x="1343025" y="1218225"/>
            <a:ext cx="9952200" cy="5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 n°1 – Contenu de communication externe</a:t>
            </a:r>
            <a:endParaRPr b="1" sz="16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Type de contenu :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 Post réseaux sociaux (Instagram)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 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: Promouvoir un produit de la TPE.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Outil IA utilisé 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: IA générative de texte.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Prompt (exemple)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« Rédige un post Instagram court et professionnel pour présenter un savon artisanal naturel. Ton authentique, public sensible aux produits écologiques. »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Apport de l’IA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Gain de temps dans la rédaction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Amélioration de la qualité rédactionnelle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Accessibilité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Texte structuré et clair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Possibilité de reformulation simplifiée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Rôle de l’humain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Relecture, ajustement du ton et validation finale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9041fdfde_0_41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CONTENUS GÉNÉRÉS</a:t>
            </a:r>
            <a:endParaRPr/>
          </a:p>
        </p:txBody>
      </p:sp>
      <p:pic>
        <p:nvPicPr>
          <p:cNvPr id="116" name="Google Shape;116;g3b9041fdfde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b9041fdfde_0_41"/>
          <p:cNvSpPr txBox="1"/>
          <p:nvPr/>
        </p:nvSpPr>
        <p:spPr>
          <a:xfrm>
            <a:off x="1343025" y="1218225"/>
            <a:ext cx="9952200" cy="3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 généré n°1</a:t>
            </a:r>
            <a:endParaRPr b="1" sz="16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🌿 Nouveau à l’Atelier Vert 🌿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Nous venons de créer un savon artisanal fabriqué à partir d’ingrédients naturels, sans colorant ni parfum artificiel.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Conçu à la main dans notre atelier, il respecte votre peau tout en limitant son impact sur l’environnement.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Une fabrication locale, simple et responsable, pensée pour un usage quotidien.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Disponible dès maintenant sur notre site.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500">
                <a:latin typeface="Trebuchet MS"/>
                <a:ea typeface="Trebuchet MS"/>
                <a:cs typeface="Trebuchet MS"/>
                <a:sym typeface="Trebuchet MS"/>
              </a:rPr>
              <a:t>(Le contenu est ensuite relu et ajusté par la dirigeante avant publication.)</a:t>
            </a:r>
            <a:endParaRPr i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9041fdfde_0_35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CONTENUS GÉNÉRÉS</a:t>
            </a:r>
            <a:endParaRPr/>
          </a:p>
        </p:txBody>
      </p:sp>
      <p:pic>
        <p:nvPicPr>
          <p:cNvPr id="123" name="Google Shape;123;g3b9041fdfde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9041fdfde_0_35"/>
          <p:cNvSpPr txBox="1"/>
          <p:nvPr/>
        </p:nvSpPr>
        <p:spPr>
          <a:xfrm>
            <a:off x="1343025" y="1218225"/>
            <a:ext cx="9952200" cy="50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 n°2 – Contenu de communication interne</a:t>
            </a:r>
            <a:endParaRPr b="1" sz="16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Type de contenu :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Email client (réponse type)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Objectif 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: 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Répondre plus efficacement aux questions récurrentes des clients.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Outil IA utilisé 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: IA générative de texte.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Prompt (exemple)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« 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Rédige une réponse email claire et professionnelle à un client demandant des informations sur la livraison et les délais.</a:t>
            </a: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 »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Apport de l’IA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Harmonisation des réponses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Réduction du temps de traitement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Accessibilité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Langage simple et structuré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Rôle de l’humain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Validation systématique avant envoi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041fdfde_0_48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CONTENUS GÉNÉRÉS</a:t>
            </a:r>
            <a:endParaRPr/>
          </a:p>
        </p:txBody>
      </p:sp>
      <p:pic>
        <p:nvPicPr>
          <p:cNvPr id="130" name="Google Shape;130;g3b9041fdfde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9041fdfde_0_48"/>
          <p:cNvSpPr txBox="1"/>
          <p:nvPr/>
        </p:nvSpPr>
        <p:spPr>
          <a:xfrm>
            <a:off x="1343025" y="1218225"/>
            <a:ext cx="9952200" cy="4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Contenu généré n°2</a:t>
            </a:r>
            <a:endParaRPr b="1" sz="16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Bonjour,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Merci pour votre message et pour l’intérêt que vous portez à nos produits.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Les commandes sont préparées sous 48 heures ouvrées.</a:t>
            </a:r>
            <a:br>
              <a:rPr lang="en-US" sz="1500"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La livraison s’effectue ensuite sous 3 à 5 jours ouvrés selon le mode d’expédition choisi.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Vous recevrez un email de confirmation avec un numéro de suivi dès l’envoi de votre commande.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N’hésitez pas à nous recontacter si vous avez d’autres questions.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Cordialement,</a:t>
            </a:r>
            <a:br>
              <a:rPr lang="en-US" sz="1500"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500">
                <a:latin typeface="Trebuchet MS"/>
                <a:ea typeface="Trebuchet MS"/>
                <a:cs typeface="Trebuchet MS"/>
                <a:sym typeface="Trebuchet MS"/>
              </a:rPr>
              <a:t>L’équipe de l’Atelier Vert</a:t>
            </a:r>
            <a:endParaRPr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1500">
                <a:latin typeface="Trebuchet MS"/>
                <a:ea typeface="Trebuchet MS"/>
                <a:cs typeface="Trebuchet MS"/>
                <a:sym typeface="Trebuchet MS"/>
              </a:rPr>
              <a:t>(Cette réponse est utilisée comme base et validée avant chaque envoi.)</a:t>
            </a:r>
            <a:endParaRPr sz="1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9"/>
          <p:cNvSpPr txBox="1"/>
          <p:nvPr/>
        </p:nvSpPr>
        <p:spPr>
          <a:xfrm>
            <a:off x="1343025" y="1218237"/>
            <a:ext cx="99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la synthèse générée avec l’IA et les données initiales.</a:t>
            </a:r>
            <a:endParaRPr/>
          </a:p>
        </p:txBody>
      </p:sp>
      <p:sp>
        <p:nvSpPr>
          <p:cNvPr id="137" name="Google Shape;137;p159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041fdfde_0_18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b9041fdfde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b9041fdfde_0_18"/>
          <p:cNvSpPr txBox="1"/>
          <p:nvPr/>
        </p:nvSpPr>
        <p:spPr>
          <a:xfrm>
            <a:off x="1343025" y="1218225"/>
            <a:ext cx="9952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Données initiales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Avis clients issus du site e-commerce.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Messages clients reçus par email.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Usage de l’IA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Génération d’une synthèse des retours clients.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Identification des points forts récurrents et des attentes.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Apport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Facilitation du traitement de données qualitatives.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Aide à la prise de décision.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Analyse complétée par un regard humain.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Instructions à configurer dans l’outil IA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Ne pas reformuler les données mais de les analyser.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Demande de : 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classer les retours par thèmes,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distinguer points positifs et axes d’amélioration,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produire une synthèse courte et structurée.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500"/>
              <a:buFont typeface="Trebuchet MS"/>
              <a:buChar char="-"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limiter la longueur de la réponse pour éviter la surinterprétation.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9041fdfde_0_56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b9041fdfde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b9041fdfde_0_56"/>
          <p:cNvSpPr txBox="1"/>
          <p:nvPr/>
        </p:nvSpPr>
        <p:spPr>
          <a:xfrm>
            <a:off x="1343025" y="1218225"/>
            <a:ext cx="99522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produite :</a:t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retours clients mettent en avant une forte satisfaction concernant la qualité des produits, leur caractère naturel et la fabrication artisanale.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principaux points positifs concernent la douceur des savons, leur odeur agréable et l’emballage soigné.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axes d’amélioration identifiés portent principalement sur les délais de livraison et le besoin de davantage d’informations sur la composition des produits.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Ces éléments confirment l’intérêt des clients pour une offre responsable, tout en soulignant des pistes d’optimisation sur la logistique et la communication produit.</a:t>
            </a:r>
            <a:endParaRPr sz="1500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1"/>
          <p:cNvSpPr txBox="1"/>
          <p:nvPr/>
        </p:nvSpPr>
        <p:spPr>
          <a:xfrm>
            <a:off x="1343024" y="1218237"/>
            <a:ext cx="899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1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1"/>
          <p:cNvSpPr txBox="1"/>
          <p:nvPr/>
        </p:nvSpPr>
        <p:spPr>
          <a:xfrm>
            <a:off x="1343025" y="1218237"/>
            <a:ext cx="99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l’automatisation de tâche ou de workflow réalisée via une technologie IA dédiée.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900fa9a49_0_0"/>
          <p:cNvSpPr txBox="1"/>
          <p:nvPr/>
        </p:nvSpPr>
        <p:spPr>
          <a:xfrm>
            <a:off x="1343024" y="1218237"/>
            <a:ext cx="899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b900fa9a49_0_0"/>
          <p:cNvSpPr txBox="1"/>
          <p:nvPr/>
        </p:nvSpPr>
        <p:spPr>
          <a:xfrm>
            <a:off x="1343024" y="434134"/>
            <a:ext cx="9952200" cy="431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AUTOMATISATION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b900fa9a4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b900fa9a4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25" y="1332737"/>
            <a:ext cx="11230751" cy="4243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Personnalisé 1">
      <a:dk1>
        <a:srgbClr val="3EB9BC"/>
      </a:dk1>
      <a:lt1>
        <a:srgbClr val="FFFFFF"/>
      </a:lt1>
      <a:dk2>
        <a:srgbClr val="3EB9BC"/>
      </a:dk2>
      <a:lt2>
        <a:srgbClr val="F8F8F8"/>
      </a:lt2>
      <a:accent1>
        <a:srgbClr val="3EB9BC"/>
      </a:accent1>
      <a:accent2>
        <a:srgbClr val="FEE042"/>
      </a:accent2>
      <a:accent3>
        <a:srgbClr val="F6F6F6"/>
      </a:accent3>
      <a:accent4>
        <a:srgbClr val="3EB9BC"/>
      </a:accent4>
      <a:accent5>
        <a:srgbClr val="3EB9BC"/>
      </a:accent5>
      <a:accent6>
        <a:srgbClr val="3EB9BC"/>
      </a:accent6>
      <a:hlink>
        <a:srgbClr val="3EB9BC"/>
      </a:hlink>
      <a:folHlink>
        <a:srgbClr val="FEE0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2018-11-08T16:43:29Z</dcterms:created>
  <dc:creator>Jerome BESTEL;Slidor</dc:creator>
</cp:coreProperties>
</file>