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spreadsheetml.sheet" PartName="/ppt/embeddings/Microsoft_Excel_Sheet1.xlsx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Quattrocen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846">
          <p15:clr>
            <a:srgbClr val="A4A3A4"/>
          </p15:clr>
        </p15:guide>
        <p15:guide id="2" pos="6834">
          <p15:clr>
            <a:srgbClr val="A4A3A4"/>
          </p15:clr>
        </p15:guide>
        <p15:guide id="3" orient="horz" pos="504">
          <p15:clr>
            <a:srgbClr val="A4A3A4"/>
          </p15:clr>
        </p15:guide>
        <p15:guide id="4" orient="horz" pos="3816">
          <p15:clr>
            <a:srgbClr val="A4A3A4"/>
          </p15:clr>
        </p15:guide>
        <p15:guide id="5" pos="3840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pos="1209">
          <p15:clr>
            <a:srgbClr val="A4A3A4"/>
          </p15:clr>
        </p15:guide>
        <p15:guide id="8" pos="6471">
          <p15:clr>
            <a:srgbClr val="A4A3A4"/>
          </p15:clr>
        </p15:guide>
        <p15:guide id="9" pos="4203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e8fl2bCbz/KI8Xf0wcUuI7dLO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F502C8-C8CE-44E0-969B-E71FF784E0B8}">
  <a:tblStyle styleId="{38F502C8-C8CE-44E0-969B-E71FF784E0B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8F3F3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3F3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firstRow>
    <a:neCell>
      <a:tcTxStyle b="off" i="off"/>
    </a:neCell>
    <a:nwCell>
      <a:tcTxStyle b="off" i="off"/>
    </a:nwCell>
  </a:tblStyle>
  <a:tblStyle styleId="{A6A281FB-B9B5-42AD-BB02-19F76F960BCD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90A8819-C0E4-4B97-A9B9-1586E9F15CDB}" styleName="Table_2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B"/>
          </a:solidFill>
        </a:fill>
      </a:tcStyle>
    </a:wholeTbl>
    <a:band1H>
      <a:tcTxStyle b="off" i="off"/>
      <a:tcStyle>
        <a:fill>
          <a:solidFill>
            <a:srgbClr val="CBCCD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CCD5"/>
          </a:solidFill>
        </a:fill>
      </a:tcStyle>
    </a:band1V>
    <a:band2V>
      <a:tcTxStyle b="off" i="off"/>
    </a:band2V>
    <a:la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6"/>
        <p:guide pos="6834"/>
        <p:guide pos="504" orient="horz"/>
        <p:guide pos="3816" orient="horz"/>
        <p:guide pos="3840"/>
        <p:guide pos="2160" orient="horz"/>
        <p:guide pos="1209"/>
        <p:guide pos="6471"/>
        <p:guide pos="4203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QuattrocentoSa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Quattrocento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?>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Whit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logos Slide">
  <p:cSld name="18 logos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7"/>
          <p:cNvSpPr txBox="1"/>
          <p:nvPr>
            <p:ph idx="1" type="body"/>
          </p:nvPr>
        </p:nvSpPr>
        <p:spPr>
          <a:xfrm>
            <a:off x="1492839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147"/>
          <p:cNvSpPr txBox="1"/>
          <p:nvPr>
            <p:ph idx="2" type="body"/>
          </p:nvPr>
        </p:nvSpPr>
        <p:spPr>
          <a:xfrm>
            <a:off x="3178922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47"/>
          <p:cNvSpPr txBox="1"/>
          <p:nvPr>
            <p:ph idx="3" type="body"/>
          </p:nvPr>
        </p:nvSpPr>
        <p:spPr>
          <a:xfrm>
            <a:off x="4865005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47"/>
          <p:cNvSpPr txBox="1"/>
          <p:nvPr>
            <p:ph idx="4" type="body"/>
          </p:nvPr>
        </p:nvSpPr>
        <p:spPr>
          <a:xfrm>
            <a:off x="6551088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47"/>
          <p:cNvSpPr txBox="1"/>
          <p:nvPr>
            <p:ph idx="5" type="body"/>
          </p:nvPr>
        </p:nvSpPr>
        <p:spPr>
          <a:xfrm>
            <a:off x="8237171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47"/>
          <p:cNvSpPr txBox="1"/>
          <p:nvPr>
            <p:ph idx="6" type="body"/>
          </p:nvPr>
        </p:nvSpPr>
        <p:spPr>
          <a:xfrm>
            <a:off x="9923253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7"/>
          <p:cNvSpPr txBox="1"/>
          <p:nvPr>
            <p:ph idx="7" type="body"/>
          </p:nvPr>
        </p:nvSpPr>
        <p:spPr>
          <a:xfrm>
            <a:off x="1492839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7"/>
          <p:cNvSpPr txBox="1"/>
          <p:nvPr>
            <p:ph idx="8" type="body"/>
          </p:nvPr>
        </p:nvSpPr>
        <p:spPr>
          <a:xfrm>
            <a:off x="3178922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7"/>
          <p:cNvSpPr txBox="1"/>
          <p:nvPr>
            <p:ph idx="9" type="body"/>
          </p:nvPr>
        </p:nvSpPr>
        <p:spPr>
          <a:xfrm>
            <a:off x="4865005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47"/>
          <p:cNvSpPr txBox="1"/>
          <p:nvPr>
            <p:ph idx="13" type="body"/>
          </p:nvPr>
        </p:nvSpPr>
        <p:spPr>
          <a:xfrm>
            <a:off x="6551088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7"/>
          <p:cNvSpPr txBox="1"/>
          <p:nvPr>
            <p:ph idx="14" type="body"/>
          </p:nvPr>
        </p:nvSpPr>
        <p:spPr>
          <a:xfrm>
            <a:off x="8237171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7"/>
          <p:cNvSpPr txBox="1"/>
          <p:nvPr>
            <p:ph idx="15" type="body"/>
          </p:nvPr>
        </p:nvSpPr>
        <p:spPr>
          <a:xfrm>
            <a:off x="9923253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7"/>
          <p:cNvSpPr txBox="1"/>
          <p:nvPr>
            <p:ph idx="16" type="body"/>
          </p:nvPr>
        </p:nvSpPr>
        <p:spPr>
          <a:xfrm>
            <a:off x="1492839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7"/>
          <p:cNvSpPr txBox="1"/>
          <p:nvPr>
            <p:ph idx="17" type="body"/>
          </p:nvPr>
        </p:nvSpPr>
        <p:spPr>
          <a:xfrm>
            <a:off x="3178922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7"/>
          <p:cNvSpPr txBox="1"/>
          <p:nvPr>
            <p:ph idx="18" type="body"/>
          </p:nvPr>
        </p:nvSpPr>
        <p:spPr>
          <a:xfrm>
            <a:off x="4865005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7"/>
          <p:cNvSpPr txBox="1"/>
          <p:nvPr>
            <p:ph idx="19" type="body"/>
          </p:nvPr>
        </p:nvSpPr>
        <p:spPr>
          <a:xfrm>
            <a:off x="6551088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47"/>
          <p:cNvSpPr txBox="1"/>
          <p:nvPr>
            <p:ph idx="20" type="body"/>
          </p:nvPr>
        </p:nvSpPr>
        <p:spPr>
          <a:xfrm>
            <a:off x="8237171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7"/>
          <p:cNvSpPr txBox="1"/>
          <p:nvPr>
            <p:ph idx="21" type="body"/>
          </p:nvPr>
        </p:nvSpPr>
        <p:spPr>
          <a:xfrm>
            <a:off x="9923253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1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1">
  <p:cSld name="Chapter 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8"/>
          <p:cNvSpPr/>
          <p:nvPr>
            <p:ph idx="2" type="pic"/>
          </p:nvPr>
        </p:nvSpPr>
        <p:spPr>
          <a:xfrm>
            <a:off x="7535119" y="1105236"/>
            <a:ext cx="3903672" cy="464753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5" name="Google Shape;35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3">
  <p:cSld name="Container 1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9"/>
          <p:cNvSpPr/>
          <p:nvPr>
            <p:ph idx="2" type="pic"/>
          </p:nvPr>
        </p:nvSpPr>
        <p:spPr>
          <a:xfrm>
            <a:off x="-1" y="0"/>
            <a:ext cx="12192000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8" name="Google Shape;38;p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Watch">
  <p:cSld name="SmartWatch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0"/>
          <p:cNvSpPr/>
          <p:nvPr>
            <p:ph idx="2" type="pic"/>
          </p:nvPr>
        </p:nvSpPr>
        <p:spPr>
          <a:xfrm>
            <a:off x="1657987" y="2600960"/>
            <a:ext cx="1327149" cy="1651804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1" name="Google Shape;41;p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c">
  <p:cSld name="iMac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1"/>
          <p:cNvSpPr/>
          <p:nvPr>
            <p:ph idx="2" type="pic"/>
          </p:nvPr>
        </p:nvSpPr>
        <p:spPr>
          <a:xfrm>
            <a:off x="1205230" y="1558545"/>
            <a:ext cx="4685030" cy="2633471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4" name="Google Shape;44;p1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04800" lvl="2" marL="1371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7.png"/><Relationship Id="rId5" Type="http://schemas.openxmlformats.org/officeDocument/2006/relationships/package" Target="../embeddings/Microsoft_Excel_Sheet1.xlsx"/><Relationship Id="rId6" Type="http://schemas.openxmlformats.org/officeDocument/2006/relationships/package" Target="../embeddings/Microsoft_Excel_Sheet1.xlsx"/><Relationship Id="rId7" Type="http://schemas.openxmlformats.org/officeDocument/2006/relationships/image" Target="../media/image6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/>
        </p:nvSpPr>
        <p:spPr>
          <a:xfrm>
            <a:off x="1343025" y="2575703"/>
            <a:ext cx="950595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CERTIFICATION</a:t>
            </a:r>
            <a:endParaRPr b="1" i="0" sz="4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RÉALISER LES OPÉRATIONS COMPTABLES COURANTES D’UNE TPE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/>
        </p:nvSpPr>
        <p:spPr>
          <a:xfrm>
            <a:off x="1343025" y="5470642"/>
            <a:ext cx="9319057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moh ait b – Création d'une EURL de prestations de services en logistique et manutention (gestion d'entrepôt, préparation de commandes, conduite de chariots élévateurs)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/>
        </p:nvSpPr>
        <p:spPr>
          <a:xfrm>
            <a:off x="1343025" y="458851"/>
            <a:ext cx="9505950" cy="877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INFOS IMPORTANTES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/>
          <p:nvPr/>
        </p:nvSpPr>
        <p:spPr>
          <a:xfrm>
            <a:off x="1343025" y="1467537"/>
            <a:ext cx="9700796" cy="303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Ce document est le « modèle » à remplir et à présenter devant le jury de certification.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Les slides avec un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0000"/>
                </a:highlight>
                <a:latin typeface="Trebuchet MS"/>
                <a:ea typeface="Trebuchet MS"/>
                <a:cs typeface="Trebuchet MS"/>
                <a:sym typeface="Trebuchet MS"/>
              </a:rPr>
              <a:t>titre rouge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 sont des exemples pour vous aider à comprendre les attendus.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Tous les contenus doivent être abordés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administrative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Tableau de bord et indicateurs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Hypothèses de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 &amp; 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devis ou facture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impayé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stocks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écarts entre prévisionnel et réel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 toutefois votre activité n’était pas ou peu concernée par un ou plusiers items, il s’agira de le justifier à l’oral.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3667573" y="5406579"/>
            <a:ext cx="693236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Ce document est à déposer sur votre espace CréActifs 7 jours ouvrés avant la date de passage indiquée sur votre convocation.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dge à suivre avec un remplissage uni"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148" y="522637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1343025" y="1218237"/>
            <a:ext cx="7303670" cy="121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Création d’une entreprise individuelle (EI) de rénovation et maçonnerie générale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Vous résumez rapidement le projet sous forme de “bullet points”, pas sous forme de texte rédigé.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DE VOTRE PROJET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0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DE VOTRE PROJET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2" name="Google Shape;7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0"/>
          <p:cNvSpPr txBox="1"/>
          <p:nvPr/>
        </p:nvSpPr>
        <p:spPr>
          <a:xfrm>
            <a:off x="1343024" y="1716675"/>
            <a:ext cx="7618096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Mon projet consiste en la création d’une EURL de [SECTEUR D’ACTIVITE]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[Zone d’implantation géographique]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[Description de l’activité principale]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[Type de clientèle visée]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[Zone de chalandise / rayon d’action]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[Panier moyen / fourchette de prix]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4"/>
          <p:cNvSpPr txBox="1"/>
          <p:nvPr/>
        </p:nvSpPr>
        <p:spPr>
          <a:xfrm>
            <a:off x="1343025" y="1218237"/>
            <a:ext cx="7303670" cy="1828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un schéma de votre organisation administrative. Partez des pièces comptables que vous récoltez, et indiquez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moyens de collecte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 stockage &amp; classement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 transmission aux tiers concernés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4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ADMINISTRATIVE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0" name="Google Shape;80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5"/>
          <p:cNvSpPr/>
          <p:nvPr/>
        </p:nvSpPr>
        <p:spPr>
          <a:xfrm>
            <a:off x="91440" y="1379473"/>
            <a:ext cx="3950208" cy="600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 – Réception des pièces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5"/>
          <p:cNvSpPr/>
          <p:nvPr/>
        </p:nvSpPr>
        <p:spPr>
          <a:xfrm>
            <a:off x="4120896" y="1379473"/>
            <a:ext cx="3950208" cy="6006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 – Stockage des pièces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5"/>
          <p:cNvSpPr/>
          <p:nvPr/>
        </p:nvSpPr>
        <p:spPr>
          <a:xfrm>
            <a:off x="8150352" y="1379473"/>
            <a:ext cx="3950208" cy="600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3 – Transmission des pièces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5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ADMINISTRATIVE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9" name="Google Shape;89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5"/>
          <p:cNvSpPr txBox="1"/>
          <p:nvPr/>
        </p:nvSpPr>
        <p:spPr>
          <a:xfrm>
            <a:off x="91440" y="2153724"/>
            <a:ext cx="3867912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Pour les clients, je réceptionne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2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[Document client – délai – format]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Pour les fournisseurs, je réceptionne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[Document fournisseur – délai – format]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5"/>
          <p:cNvSpPr txBox="1"/>
          <p:nvPr/>
        </p:nvSpPr>
        <p:spPr>
          <a:xfrm>
            <a:off x="4120896" y="2153724"/>
            <a:ext cx="3867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Chaque jour, je stocke toutes les pièces comme suit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5"/>
          <p:cNvSpPr/>
          <p:nvPr/>
        </p:nvSpPr>
        <p:spPr>
          <a:xfrm>
            <a:off x="5576316" y="2768384"/>
            <a:ext cx="1039368" cy="32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Dossiers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5"/>
          <p:cNvSpPr/>
          <p:nvPr/>
        </p:nvSpPr>
        <p:spPr>
          <a:xfrm>
            <a:off x="4120896" y="3355694"/>
            <a:ext cx="859536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Caisse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5"/>
          <p:cNvSpPr/>
          <p:nvPr/>
        </p:nvSpPr>
        <p:spPr>
          <a:xfrm>
            <a:off x="5571744" y="3339013"/>
            <a:ext cx="1180917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Fournisseurs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5"/>
          <p:cNvSpPr/>
          <p:nvPr/>
        </p:nvSpPr>
        <p:spPr>
          <a:xfrm>
            <a:off x="7211569" y="3339012"/>
            <a:ext cx="859536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Autres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5"/>
          <p:cNvSpPr txBox="1"/>
          <p:nvPr/>
        </p:nvSpPr>
        <p:spPr>
          <a:xfrm>
            <a:off x="4120896" y="3809100"/>
            <a:ext cx="10393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Journal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Remise banque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5"/>
          <p:cNvSpPr txBox="1"/>
          <p:nvPr/>
        </p:nvSpPr>
        <p:spPr>
          <a:xfrm>
            <a:off x="5382006" y="3809100"/>
            <a:ext cx="14279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[Sous-catégorie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[Sous-catégorie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[Sous-catégorie 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5"/>
          <p:cNvSpPr txBox="1"/>
          <p:nvPr/>
        </p:nvSpPr>
        <p:spPr>
          <a:xfrm>
            <a:off x="7031736" y="3809100"/>
            <a:ext cx="14279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Loyers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Salaires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Honoraires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Travaux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55"/>
          <p:cNvCxnSpPr>
            <a:stCxn id="92" idx="1"/>
            <a:endCxn id="93" idx="0"/>
          </p:cNvCxnSpPr>
          <p:nvPr/>
        </p:nvCxnSpPr>
        <p:spPr>
          <a:xfrm flipH="1">
            <a:off x="4550616" y="2931548"/>
            <a:ext cx="1025700" cy="424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55"/>
          <p:cNvCxnSpPr>
            <a:stCxn id="95" idx="0"/>
            <a:endCxn id="92" idx="3"/>
          </p:cNvCxnSpPr>
          <p:nvPr/>
        </p:nvCxnSpPr>
        <p:spPr>
          <a:xfrm rot="10800000">
            <a:off x="6615637" y="2931612"/>
            <a:ext cx="1025700" cy="4074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55"/>
          <p:cNvCxnSpPr>
            <a:stCxn id="102" idx="0"/>
            <a:endCxn id="92" idx="2"/>
          </p:cNvCxnSpPr>
          <p:nvPr/>
        </p:nvCxnSpPr>
        <p:spPr>
          <a:xfrm rot="10800000">
            <a:off x="6096001" y="3094813"/>
            <a:ext cx="0" cy="244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55"/>
          <p:cNvCxnSpPr>
            <a:stCxn id="93" idx="1"/>
            <a:endCxn id="96" idx="1"/>
          </p:cNvCxnSpPr>
          <p:nvPr/>
        </p:nvCxnSpPr>
        <p:spPr>
          <a:xfrm>
            <a:off x="4120896" y="3518858"/>
            <a:ext cx="600" cy="705600"/>
          </a:xfrm>
          <a:prstGeom prst="bentConnector3">
            <a:avLst>
              <a:gd fmla="val -35983333" name="adj1"/>
            </a:avLst>
          </a:prstGeom>
          <a:noFill/>
          <a:ln cap="flat" cmpd="sng" w="9525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55"/>
          <p:cNvCxnSpPr>
            <a:stCxn id="94" idx="1"/>
            <a:endCxn id="97" idx="1"/>
          </p:cNvCxnSpPr>
          <p:nvPr/>
        </p:nvCxnSpPr>
        <p:spPr>
          <a:xfrm flipH="1">
            <a:off x="5382144" y="3502177"/>
            <a:ext cx="189600" cy="630000"/>
          </a:xfrm>
          <a:prstGeom prst="bentConnector3">
            <a:avLst>
              <a:gd fmla="val 177237" name="adj1"/>
            </a:avLst>
          </a:prstGeom>
          <a:noFill/>
          <a:ln cap="flat" cmpd="sng" w="9525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55"/>
          <p:cNvCxnSpPr>
            <a:stCxn id="95" idx="1"/>
            <a:endCxn id="98" idx="1"/>
          </p:cNvCxnSpPr>
          <p:nvPr/>
        </p:nvCxnSpPr>
        <p:spPr>
          <a:xfrm flipH="1">
            <a:off x="7031869" y="3502176"/>
            <a:ext cx="179700" cy="722400"/>
          </a:xfrm>
          <a:prstGeom prst="bentConnector3">
            <a:avLst>
              <a:gd fmla="val 227286" name="adj1"/>
            </a:avLst>
          </a:prstGeom>
          <a:noFill/>
          <a:ln cap="flat" cmpd="sng" w="9525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55"/>
          <p:cNvSpPr/>
          <p:nvPr/>
        </p:nvSpPr>
        <p:spPr>
          <a:xfrm>
            <a:off x="5505542" y="3339013"/>
            <a:ext cx="1180917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Fournisseurs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5"/>
          <p:cNvSpPr txBox="1"/>
          <p:nvPr/>
        </p:nvSpPr>
        <p:spPr>
          <a:xfrm>
            <a:off x="8150352" y="2154107"/>
            <a:ext cx="38679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J’adresse mes documents à mon comptable [fréquence] par [moyen].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5"/>
          <p:cNvSpPr/>
          <p:nvPr/>
        </p:nvSpPr>
        <p:spPr>
          <a:xfrm>
            <a:off x="91440" y="5344551"/>
            <a:ext cx="1673352" cy="600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+ Mes logiciels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5"/>
          <p:cNvSpPr/>
          <p:nvPr/>
        </p:nvSpPr>
        <p:spPr>
          <a:xfrm>
            <a:off x="2334768" y="5051466"/>
            <a:ext cx="2812795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[Logiciel 1 – usage]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5"/>
          <p:cNvSpPr/>
          <p:nvPr/>
        </p:nvSpPr>
        <p:spPr>
          <a:xfrm>
            <a:off x="2334768" y="5481703"/>
            <a:ext cx="2812795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[Logiciel 2 – usage]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5"/>
          <p:cNvSpPr/>
          <p:nvPr/>
        </p:nvSpPr>
        <p:spPr>
          <a:xfrm>
            <a:off x="2334768" y="5911940"/>
            <a:ext cx="2812795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[Logiciel 3 – usage]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55"/>
          <p:cNvCxnSpPr>
            <a:stCxn id="108" idx="1"/>
            <a:endCxn id="107" idx="3"/>
          </p:cNvCxnSpPr>
          <p:nvPr/>
        </p:nvCxnSpPr>
        <p:spPr>
          <a:xfrm flipH="1">
            <a:off x="1764768" y="5214630"/>
            <a:ext cx="570000" cy="430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155"/>
          <p:cNvCxnSpPr>
            <a:stCxn id="110" idx="1"/>
            <a:endCxn id="107" idx="3"/>
          </p:cNvCxnSpPr>
          <p:nvPr/>
        </p:nvCxnSpPr>
        <p:spPr>
          <a:xfrm rot="10800000">
            <a:off x="1764768" y="5644904"/>
            <a:ext cx="570000" cy="430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55"/>
          <p:cNvCxnSpPr>
            <a:stCxn id="109" idx="1"/>
            <a:endCxn id="107" idx="3"/>
          </p:cNvCxnSpPr>
          <p:nvPr/>
        </p:nvCxnSpPr>
        <p:spPr>
          <a:xfrm rot="10800000">
            <a:off x="1764768" y="5644867"/>
            <a:ext cx="570000" cy="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6"/>
          <p:cNvSpPr txBox="1"/>
          <p:nvPr/>
        </p:nvSpPr>
        <p:spPr>
          <a:xfrm>
            <a:off x="1343024" y="1218237"/>
            <a:ext cx="9721215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un tableau de bord qui regroupe les indicateurs clés de votre projet/structure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6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TABLEAU DE BORD &amp; INDICATEURS 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0" name="Google Shape;120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6"/>
          <p:cNvSpPr txBox="1"/>
          <p:nvPr/>
        </p:nvSpPr>
        <p:spPr>
          <a:xfrm>
            <a:off x="1866244" y="6140645"/>
            <a:ext cx="74683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indicateurs peuvent être des SIG comme tout autre indicateur pertinent selon le secteur (ticket moyen, CA/salarié employé, évolution du CA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mières allumées contour" id="122" name="Google Shape;122;p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4" y="6140645"/>
            <a:ext cx="523220" cy="52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7"/>
          <p:cNvSpPr txBox="1"/>
          <p:nvPr/>
        </p:nvSpPr>
        <p:spPr>
          <a:xfrm>
            <a:off x="1343024" y="1218237"/>
            <a:ext cx="9721215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un tableau de bord qui regroupe les indicateurs clés de votre projet/structure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7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TABLEAU DE BORD &amp; INDICATEURS 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9" name="Google Shape;129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7"/>
          <p:cNvSpPr txBox="1"/>
          <p:nvPr/>
        </p:nvSpPr>
        <p:spPr>
          <a:xfrm>
            <a:off x="1866244" y="6140645"/>
            <a:ext cx="74683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indicateurs peuvent être des SIG comme tout autre indicateur pertinent selon le secteur (ticket moyen, CA/salarié employé, évolution du CA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mières allumées contour" id="131" name="Google Shape;131;p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4" y="6140645"/>
            <a:ext cx="523220" cy="523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57"/>
          <p:cNvGraphicFramePr/>
          <p:nvPr/>
        </p:nvGraphicFramePr>
        <p:xfrm>
          <a:off x="1343024" y="1902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{38F502C8-C8CE-44E0-969B-E71FF784E0B8}</a:tableStyleId>
              </a:tblPr>
              <a:tblGrid>
                <a:gridCol w="2625475"/>
                <a:gridCol w="1438525"/>
                <a:gridCol w="1332100"/>
                <a:gridCol w="1362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[Nom entreprise / secteur]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Mois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Mois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Mois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[Indicateur 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[Val1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[Val1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[Val1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[Indicateur 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[Val2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[Val2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[Val2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[Indicateur 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[Val3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[Val3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[Val3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[Indicateur 4]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[Val4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[Val4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[Val4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CA mensuel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[CA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[CA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[CA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Evolutions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[Evol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[Evol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3" name="Google Shape;133;p157"/>
          <p:cNvSpPr txBox="1"/>
          <p:nvPr/>
        </p:nvSpPr>
        <p:spPr>
          <a:xfrm>
            <a:off x="1343024" y="4828032"/>
            <a:ext cx="666712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[Commentaire libre sur la tendance observée]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8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vos hypothèses de CA cohérentes. Une seule hypothèse, réaliste, sur 3 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8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 DE CHIFFRE D’AFFAIRES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9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vos hypothèses de CA cohérentes. Une seule hypothèse, réaliste, sur 3 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9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 DE CHIFFRE D’AFFAIRES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" name="Google Shape;148;p159"/>
          <p:cNvGraphicFramePr/>
          <p:nvPr/>
        </p:nvGraphicFramePr>
        <p:xfrm>
          <a:off x="1343024" y="20303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{A6A281FB-B9B5-42AD-BB02-19F76F960BCD}</a:tableStyleId>
              </a:tblPr>
              <a:tblGrid>
                <a:gridCol w="3410900"/>
                <a:gridCol w="1136975"/>
                <a:gridCol w="1136975"/>
                <a:gridCol w="1136975"/>
              </a:tblGrid>
              <a:tr h="32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28575" marL="28575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N1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N2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N3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ctr">
                    <a:solidFill>
                      <a:schemeClr val="accent2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1 — Prix moyen]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[Valeur_P1_PrixMoyen_N1]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[Valeur_P1_PrixMoyen_N2]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[Valeur_P1_PrixMoyen_N3]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1 — Volume/an]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[Valeur_P1_Volume_N1]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[Valeur_P1_Volume_N2]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[Valeur_P1_Volume_N3]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>CA prestation 1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[Valeur_P1_CA_N1]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[Valeur_P1_CA_N2]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[Valeur_P1_CA_N3]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2 — Prix moyen]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[Valeur_P2_PrixMoyen_N1]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[Valeur_P2_PrixMoyen_N2]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[Valeur_P2_PrixMoyen_N3]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2 — Volume/an]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[Valeur_P2_Volume_N1]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[Valeur_P2_Volume_N2]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[Valeur_P2_Volume_N3]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>CA prestation 2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[Valeur_P2_CA_N1]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[Valeur_P2_CA_N2]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[Valeur_P2_CA_N3]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3 — Prix moyen]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[Valeur_P3_PrixMoyen_N1]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[Valeur_P3_PrixMoyen_N2]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[Valeur_P3_PrixMoyen_N3]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3 — Volume/an]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[Valeur_P3_Volume_N1]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[Valeur_P3_Volume_N2]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[Valeur_P3_Volume_N3]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>CA prestation 3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[Valeur_P3_CA_N1]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[Valeur_P3_CA_N2]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[Valeur_P3_CA_N3]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Total CA prestation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 xml:space="preserve">[Valeur_Total_N1]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 xml:space="preserve">[Valeur_Total_N2]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 xml:space="preserve">[Valeur_Total_N3]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0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ici votre fonds de roulement et besoin en fonds de roulement.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0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ROULEMENT/BESOIN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0"/>
          <p:cNvSpPr txBox="1"/>
          <p:nvPr/>
        </p:nvSpPr>
        <p:spPr>
          <a:xfrm>
            <a:off x="1866244" y="6140645"/>
            <a:ext cx="74683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Obectif : montrer que vous n’allez pas vous retrouver avec une trésorerie négative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mières allumées contour" id="157" name="Google Shape;157;p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4" y="6140645"/>
            <a:ext cx="523220" cy="52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1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ici votre fonds de roulement et besoin en fonds de roulement.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1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ROULEMENT/BESOIN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161"/>
          <p:cNvGraphicFramePr/>
          <p:nvPr/>
        </p:nvGraphicFramePr>
        <p:xfrm>
          <a:off x="2281238" y="1628775"/>
          <a:ext cx="7629525" cy="4962525"/>
        </p:xfrm>
        <a:graphic>
          <a:graphicData uri="http://schemas.openxmlformats.org/presentationml/2006/ole">
            <mc:AlternateContent>
              <mc:Choice Requires="v">
                <p:oleObj r:id="rId5" imgH="4962525" imgW="7629525" progId="Excel.Sheet.12" spid="_x0000_s1">
                  <p:embed/>
                </p:oleObj>
              </mc:Choice>
              <mc:Fallback>
                <p:oleObj r:id="rId6" imgH="4962525" imgW="7629525" progId="Excel.Sheet.12">
                  <p:embed/>
                  <p:pic>
                    <p:nvPicPr>
                      <p:cNvPr id="165" name="Google Shape;165;p161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281238" y="1628775"/>
                        <a:ext cx="7629525" cy="496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2"/>
          <p:cNvSpPr txBox="1"/>
          <p:nvPr/>
        </p:nvSpPr>
        <p:spPr>
          <a:xfrm>
            <a:off x="1343024" y="954954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phase de création d’entreprise (données prévisionnelles)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2"/>
          <p:cNvSpPr txBox="1"/>
          <p:nvPr/>
        </p:nvSpPr>
        <p:spPr>
          <a:xfrm>
            <a:off x="1343024" y="198160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ROULEMENT/BESOIN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2"/>
          <p:cNvSpPr txBox="1"/>
          <p:nvPr/>
        </p:nvSpPr>
        <p:spPr>
          <a:xfrm>
            <a:off x="1343024" y="1499382"/>
            <a:ext cx="9952220" cy="534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Dans le cadre du BFR, les notions de stock, créances clients et dettes fournisseurs peuvent être calculer de manière prévisionnelle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Stock marchandises, matières premières…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Dans la colonne initial : renseigner le stock de départ (au démarrage de l’activité)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Dans la colonne année 1 : achats de l’année / 360 x délai moyen d’écoulement du stock pratiqué par le secteur d’activité en nb de jour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Exemple : les achats de l’année sont à 45 000€ et le délai moyen d’écoulement de stock est de 30 jours. </a:t>
            </a:r>
            <a:r>
              <a:rPr b="0" i="0" lang="en-US" sz="16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NB : Pour obtenir les achats de l’année, à partir du CA prévisionnel, il faut faire : CA x taux d’achat propre au secteur d’activité ou CA x (1 – taux de marge brute propre au secteur d’activité).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Stock marchandises = (45 000 / 360 * 30) =  3750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Créances clients </a:t>
            </a: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Dans la colonne année 1 :  CA TTC / 360 x délai moyen de règlement client en nb de jours pratiqué par le secteur d’activité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Dettes fournisseurs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- Dans la colonne année 1 : (achats marchandises + matières 1ères + montant sous-traitance) TTC / 360 x délai moyen de paiement fournisseur en nb de jours pratiqué par le secteur d’activité.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3"/>
          <p:cNvSpPr txBox="1"/>
          <p:nvPr/>
        </p:nvSpPr>
        <p:spPr>
          <a:xfrm>
            <a:off x="1343025" y="1218237"/>
            <a:ext cx="7303670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Montrer ici un exemple de facture ou de devis et indiquer en quoi il est conforme vis à vis des mentions obligatoires.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3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DEVIS OU FACTURE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0" name="Google Shape;180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4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DEVIS OU FACTURE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6" name="Google Shape;186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26280" y="1895336"/>
            <a:ext cx="2990088" cy="4148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4"/>
          <p:cNvSpPr/>
          <p:nvPr/>
        </p:nvSpPr>
        <p:spPr>
          <a:xfrm>
            <a:off x="4343400" y="1941455"/>
            <a:ext cx="1051560" cy="102412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4"/>
          <p:cNvSpPr/>
          <p:nvPr/>
        </p:nvSpPr>
        <p:spPr>
          <a:xfrm>
            <a:off x="4700000" y="4031672"/>
            <a:ext cx="2500000" cy="49876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64"/>
          <p:cNvSpPr/>
          <p:nvPr/>
        </p:nvSpPr>
        <p:spPr>
          <a:xfrm>
            <a:off x="6319134" y="2473147"/>
            <a:ext cx="1051560" cy="102412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64"/>
          <p:cNvSpPr/>
          <p:nvPr/>
        </p:nvSpPr>
        <p:spPr>
          <a:xfrm>
            <a:off x="2121408" y="2293040"/>
            <a:ext cx="2221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Numéro de facture : format libre (ex: FAC-AAAA-NNN)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64"/>
          <p:cNvSpPr/>
          <p:nvPr/>
        </p:nvSpPr>
        <p:spPr>
          <a:xfrm>
            <a:off x="7329546" y="2852623"/>
            <a:ext cx="2221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Date d’émission + date d’échéance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64"/>
          <p:cNvSpPr/>
          <p:nvPr/>
        </p:nvSpPr>
        <p:spPr>
          <a:xfrm>
            <a:off x="2304288" y="4834815"/>
            <a:ext cx="2221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SIRET + TVA intracom + conditions de règlement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5"/>
          <p:cNvSpPr txBox="1"/>
          <p:nvPr/>
        </p:nvSpPr>
        <p:spPr>
          <a:xfrm>
            <a:off x="1343024" y="1218237"/>
            <a:ext cx="8175879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de recouvrement BTP : relance progressive avec escalade vers huissier si nécessaire.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65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IMPAYÉ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0" name="Google Shape;200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6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PROCESSUS IMPAYÉ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6" name="Google Shape;206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166"/>
          <p:cNvGrpSpPr/>
          <p:nvPr/>
        </p:nvGrpSpPr>
        <p:grpSpPr>
          <a:xfrm>
            <a:off x="1556885" y="2482007"/>
            <a:ext cx="9078229" cy="1893984"/>
            <a:chOff x="4437" y="96778"/>
            <a:chExt cx="9078229" cy="1893984"/>
          </a:xfrm>
        </p:grpSpPr>
        <p:sp>
          <p:nvSpPr>
            <p:cNvPr id="208" name="Google Shape;208;p166"/>
            <p:cNvSpPr/>
            <p:nvPr/>
          </p:nvSpPr>
          <p:spPr>
            <a:xfrm>
              <a:off x="4437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66"/>
            <p:cNvSpPr txBox="1"/>
            <p:nvPr/>
          </p:nvSpPr>
          <p:spPr>
            <a:xfrm>
              <a:off x="44724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 client ne paie pas à échéance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66"/>
            <p:cNvSpPr/>
            <p:nvPr/>
          </p:nvSpPr>
          <p:spPr>
            <a:xfrm>
              <a:off x="1517475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66"/>
            <p:cNvSpPr txBox="1"/>
            <p:nvPr/>
          </p:nvSpPr>
          <p:spPr>
            <a:xfrm>
              <a:off x="1517475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66"/>
            <p:cNvSpPr/>
            <p:nvPr/>
          </p:nvSpPr>
          <p:spPr>
            <a:xfrm>
              <a:off x="1930122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6"/>
            <p:cNvSpPr txBox="1"/>
            <p:nvPr/>
          </p:nvSpPr>
          <p:spPr>
            <a:xfrm>
              <a:off x="1970409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+1 jour : Mail relance au client avec demande de paiement et preuve de virement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66"/>
            <p:cNvSpPr/>
            <p:nvPr/>
          </p:nvSpPr>
          <p:spPr>
            <a:xfrm>
              <a:off x="3443160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66"/>
            <p:cNvSpPr txBox="1"/>
            <p:nvPr/>
          </p:nvSpPr>
          <p:spPr>
            <a:xfrm>
              <a:off x="3443160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66"/>
            <p:cNvSpPr/>
            <p:nvPr/>
          </p:nvSpPr>
          <p:spPr>
            <a:xfrm>
              <a:off x="3855807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66"/>
            <p:cNvSpPr txBox="1"/>
            <p:nvPr/>
          </p:nvSpPr>
          <p:spPr>
            <a:xfrm>
              <a:off x="3896094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+3 jours  : Mail de relance au client avec demande de paiement et preuve de virement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66"/>
            <p:cNvSpPr/>
            <p:nvPr/>
          </p:nvSpPr>
          <p:spPr>
            <a:xfrm>
              <a:off x="5368845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66"/>
            <p:cNvSpPr txBox="1"/>
            <p:nvPr/>
          </p:nvSpPr>
          <p:spPr>
            <a:xfrm>
              <a:off x="5368845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66"/>
            <p:cNvSpPr/>
            <p:nvPr/>
          </p:nvSpPr>
          <p:spPr>
            <a:xfrm>
              <a:off x="5781492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66"/>
            <p:cNvSpPr txBox="1"/>
            <p:nvPr/>
          </p:nvSpPr>
          <p:spPr>
            <a:xfrm>
              <a:off x="5821779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+ 7 jours : Dernière relance avant mise en demeure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66"/>
            <p:cNvSpPr/>
            <p:nvPr/>
          </p:nvSpPr>
          <p:spPr>
            <a:xfrm>
              <a:off x="7294530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66"/>
            <p:cNvSpPr txBox="1"/>
            <p:nvPr/>
          </p:nvSpPr>
          <p:spPr>
            <a:xfrm>
              <a:off x="7294530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66"/>
            <p:cNvSpPr/>
            <p:nvPr/>
          </p:nvSpPr>
          <p:spPr>
            <a:xfrm>
              <a:off x="7707177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66"/>
            <p:cNvSpPr txBox="1"/>
            <p:nvPr/>
          </p:nvSpPr>
          <p:spPr>
            <a:xfrm>
              <a:off x="7747464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+ 10 jours : Mise en demeure avec accusé de réception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7"/>
          <p:cNvSpPr txBox="1"/>
          <p:nvPr/>
        </p:nvSpPr>
        <p:spPr>
          <a:xfrm>
            <a:off x="1343024" y="1218237"/>
            <a:ext cx="8175879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Tableau de gestion des approvisionnements matériaux : ciment, carrelage, isolants, enduits.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7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STOCKS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2" name="Google Shape;232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8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GESTION DES STOCKS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8" name="Google Shape;238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9" name="Google Shape;239;p168"/>
          <p:cNvGraphicFramePr/>
          <p:nvPr/>
        </p:nvGraphicFramePr>
        <p:xfrm>
          <a:off x="583184" y="20272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{D90A8819-C0E4-4B97-A9B9-1586E9F15CDB}</a:tableStyleId>
              </a:tblPr>
              <a:tblGrid>
                <a:gridCol w="1378200"/>
                <a:gridCol w="1378200"/>
                <a:gridCol w="1378200"/>
                <a:gridCol w="1378200"/>
                <a:gridCol w="1378200"/>
                <a:gridCol w="1378200"/>
                <a:gridCol w="1378200"/>
                <a:gridCol w="1378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Référence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Entrées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Sorties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Stock initial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Mouvements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Stock final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Stock mini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Remarques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[Référence produit 1]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[Valeur_Prod1_Entrees]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[Valeur_Prod1_Sorties]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[Valeur_Prod1_StockInitial]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[Valeur_Prod1_Mouvements]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[Valeur_Prod1_StockFinal]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[Valeur_Prod1_StockMini]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[Remarque_Prod1]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[Référence produit 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[Valeur_Prod2_Entrees]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[Valeur_Prod2_Sorties]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[Valeur_Prod2_StockInitial]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[Valeur_Prod2_Mouvements]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[Valeur_Prod2_StockFinal]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[Valeur_Prod2_StockMini]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[Remarque_Prod2]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[Référence produit 3]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[Valeur_Prod3_Entrees]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[Valeur_Prod3_Sorties]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[Valeur_Prod3_StockInitial]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[Valeur_Prod3_Mouvements]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[Valeur_Prod3_StockFinal]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[Valeur_Prod3_StockMini]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[Remarque_Prod3]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9"/>
          <p:cNvSpPr txBox="1"/>
          <p:nvPr/>
        </p:nvSpPr>
        <p:spPr>
          <a:xfrm>
            <a:off x="1343024" y="1218237"/>
            <a:ext cx="8175879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Suivi mensuel des écarts CA réalisé vs CA prévisionnel. Analyse des charges variables et fixes.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9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ÉCARTS ENTRE PRÉVISIONNEL ET RÉEL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6" name="Google Shape;246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0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ÉCARTS ENTRE PRÉVISIONNEL ET RÉEL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2" name="Google Shape;252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3" name="Google Shape;253;p170"/>
          <p:cNvGraphicFramePr/>
          <p:nvPr/>
        </p:nvGraphicFramePr>
        <p:xfrm>
          <a:off x="1343024" y="20272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{D90A8819-C0E4-4B97-A9B9-1586E9F15CDB}</a:tableStyleId>
              </a:tblPr>
              <a:tblGrid>
                <a:gridCol w="1725700"/>
                <a:gridCol w="1725700"/>
                <a:gridCol w="1725700"/>
                <a:gridCol w="1725700"/>
                <a:gridCol w="1725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Indicateur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Prévu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Réalisé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Ecart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Actions à mettre en place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[Valeur_CA_Prevu]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[Valeur_CA_Realise]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[Valeur_CA_Ecart]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[Action_CA]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Achats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[Valeur_Achats_Prevu]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[Valeur_Achats_Realise]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[Valeur_Achats_Ecart]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[Action_Achats]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MARGE BRUTE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[Valeur_MargeBrute_Prevu]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[Valeur_MargeBrute_Realise]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[Valeur_MargeBrute_Ecart]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[Action_MargeBrute]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[Indicateur 4]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[Valeur_Indic4_Prevu]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[Valeur_Indic4_Realise]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[Valeur_Indic4_Ecart]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[Action_Indic4]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54" name="Google Shape;254;p170"/>
          <p:cNvSpPr txBox="1"/>
          <p:nvPr/>
        </p:nvSpPr>
        <p:spPr>
          <a:xfrm>
            <a:off x="1343024" y="4602722"/>
            <a:ext cx="9952220" cy="121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phase de création d’entreprise (données prévisionnelles)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Il faudra renseigner la colonne prévu uniquement, mais indiquer les postes les plus susceptibles de connaître des écarts (selon votre connaissance de votre secteur d’activité) et les pistes d’actions potentielles à envisager.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Personnalisé 1">
      <a:dk1>
        <a:srgbClr val="3EB9BC"/>
      </a:dk1>
      <a:lt1>
        <a:srgbClr val="FFFFFF"/>
      </a:lt1>
      <a:dk2>
        <a:srgbClr val="3EB9BC"/>
      </a:dk2>
      <a:lt2>
        <a:srgbClr val="F8F8F8"/>
      </a:lt2>
      <a:accent1>
        <a:srgbClr val="3EB9BC"/>
      </a:accent1>
      <a:accent2>
        <a:srgbClr val="FEE042"/>
      </a:accent2>
      <a:accent3>
        <a:srgbClr val="F6F6F6"/>
      </a:accent3>
      <a:accent4>
        <a:srgbClr val="3EB9BC"/>
      </a:accent4>
      <a:accent5>
        <a:srgbClr val="3EB9BC"/>
      </a:accent5>
      <a:accent6>
        <a:srgbClr val="3EB9BC"/>
      </a:accent6>
      <a:hlink>
        <a:srgbClr val="3EB9BC"/>
      </a:hlink>
      <a:folHlink>
        <a:srgbClr val="FEE0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2018-11-08T16:43:29Z</dcterms:created>
  <dc:creator>Jerome BESTEL;Slidor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0x010100862D99AF586C7E4FAA7E9B42C2C561B8</vt:lpwstr>
  </property>
  <property fmtid="{D5CDD505-2E9C-101B-9397-08002B2CF9AE}" pid="3" name="MediaServiceImageTags">
    <vt:lpwstr/>
  </property>
</Properties>
</file>