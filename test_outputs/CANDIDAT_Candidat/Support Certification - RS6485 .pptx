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46">
          <p15:clr>
            <a:srgbClr val="A4A3A4"/>
          </p15:clr>
        </p15:guide>
        <p15:guide id="2" pos="6834">
          <p15:clr>
            <a:srgbClr val="A4A3A4"/>
          </p15:clr>
        </p15:guide>
        <p15:guide id="3" orient="horz" pos="504">
          <p15:clr>
            <a:srgbClr val="A4A3A4"/>
          </p15:clr>
        </p15:guide>
        <p15:guide id="4" orient="horz" pos="3816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1209">
          <p15:clr>
            <a:srgbClr val="A4A3A4"/>
          </p15:clr>
        </p15:guide>
        <p15:guide id="8" pos="6471">
          <p15:clr>
            <a:srgbClr val="A4A3A4"/>
          </p15:clr>
        </p15:guide>
        <p15:guide id="9" pos="4203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e8fl2bCbz/KI8Xf0wcUuI7dL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F502C8-C8CE-44E0-969B-E71FF784E0B8}">
  <a:tblStyle styleId="{38F502C8-C8CE-44E0-969B-E71FF784E0B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F3F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3F3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  <a:tblStyle styleId="{A6A281FB-B9B5-42AD-BB02-19F76F960BC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90A8819-C0E4-4B97-A9B9-1586E9F15CDB}" styleName="Table_2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B"/>
          </a:solidFill>
        </a:fill>
      </a:tcStyle>
    </a:wholeTbl>
    <a:band1H>
      <a:tcTxStyle b="off" i="off"/>
      <a:tcStyle>
        <a:fill>
          <a:solidFill>
            <a:srgbClr val="CBCC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CCD5"/>
          </a:solidFill>
        </a:fill>
      </a:tcStyle>
    </a:band1V>
    <a:band2V>
      <a:tcTxStyle b="off" i="off"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6"/>
        <p:guide pos="6834"/>
        <p:guide pos="504" orient="horz"/>
        <p:guide pos="3816" orient="horz"/>
        <p:guide pos="3840"/>
        <p:guide pos="2160" orient="horz"/>
        <p:guide pos="1209"/>
        <p:guide pos="6471"/>
        <p:guide pos="4203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?>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7"/>
          <p:cNvSpPr txBox="1"/>
          <p:nvPr>
            <p:ph idx="1" type="body"/>
          </p:nvPr>
        </p:nvSpPr>
        <p:spPr>
          <a:xfrm>
            <a:off x="1492839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47"/>
          <p:cNvSpPr txBox="1"/>
          <p:nvPr>
            <p:ph idx="2" type="body"/>
          </p:nvPr>
        </p:nvSpPr>
        <p:spPr>
          <a:xfrm>
            <a:off x="3178922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47"/>
          <p:cNvSpPr txBox="1"/>
          <p:nvPr>
            <p:ph idx="3" type="body"/>
          </p:nvPr>
        </p:nvSpPr>
        <p:spPr>
          <a:xfrm>
            <a:off x="4865005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7"/>
          <p:cNvSpPr txBox="1"/>
          <p:nvPr>
            <p:ph idx="4" type="body"/>
          </p:nvPr>
        </p:nvSpPr>
        <p:spPr>
          <a:xfrm>
            <a:off x="6551088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7"/>
          <p:cNvSpPr txBox="1"/>
          <p:nvPr>
            <p:ph idx="5" type="body"/>
          </p:nvPr>
        </p:nvSpPr>
        <p:spPr>
          <a:xfrm>
            <a:off x="8237171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7"/>
          <p:cNvSpPr txBox="1"/>
          <p:nvPr>
            <p:ph idx="6" type="body"/>
          </p:nvPr>
        </p:nvSpPr>
        <p:spPr>
          <a:xfrm>
            <a:off x="9923253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7"/>
          <p:cNvSpPr txBox="1"/>
          <p:nvPr>
            <p:ph idx="7" type="body"/>
          </p:nvPr>
        </p:nvSpPr>
        <p:spPr>
          <a:xfrm>
            <a:off x="1492839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7"/>
          <p:cNvSpPr txBox="1"/>
          <p:nvPr>
            <p:ph idx="8" type="body"/>
          </p:nvPr>
        </p:nvSpPr>
        <p:spPr>
          <a:xfrm>
            <a:off x="3178922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7"/>
          <p:cNvSpPr txBox="1"/>
          <p:nvPr>
            <p:ph idx="9" type="body"/>
          </p:nvPr>
        </p:nvSpPr>
        <p:spPr>
          <a:xfrm>
            <a:off x="4865005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47"/>
          <p:cNvSpPr txBox="1"/>
          <p:nvPr>
            <p:ph idx="13" type="body"/>
          </p:nvPr>
        </p:nvSpPr>
        <p:spPr>
          <a:xfrm>
            <a:off x="6551088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7"/>
          <p:cNvSpPr txBox="1"/>
          <p:nvPr>
            <p:ph idx="14" type="body"/>
          </p:nvPr>
        </p:nvSpPr>
        <p:spPr>
          <a:xfrm>
            <a:off x="8237171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7"/>
          <p:cNvSpPr txBox="1"/>
          <p:nvPr>
            <p:ph idx="15" type="body"/>
          </p:nvPr>
        </p:nvSpPr>
        <p:spPr>
          <a:xfrm>
            <a:off x="9923253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7"/>
          <p:cNvSpPr txBox="1"/>
          <p:nvPr>
            <p:ph idx="16" type="body"/>
          </p:nvPr>
        </p:nvSpPr>
        <p:spPr>
          <a:xfrm>
            <a:off x="1492839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7"/>
          <p:cNvSpPr txBox="1"/>
          <p:nvPr>
            <p:ph idx="17" type="body"/>
          </p:nvPr>
        </p:nvSpPr>
        <p:spPr>
          <a:xfrm>
            <a:off x="3178922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7"/>
          <p:cNvSpPr txBox="1"/>
          <p:nvPr>
            <p:ph idx="18" type="body"/>
          </p:nvPr>
        </p:nvSpPr>
        <p:spPr>
          <a:xfrm>
            <a:off x="4865005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7"/>
          <p:cNvSpPr txBox="1"/>
          <p:nvPr>
            <p:ph idx="19" type="body"/>
          </p:nvPr>
        </p:nvSpPr>
        <p:spPr>
          <a:xfrm>
            <a:off x="6551088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7"/>
          <p:cNvSpPr txBox="1"/>
          <p:nvPr>
            <p:ph idx="20" type="body"/>
          </p:nvPr>
        </p:nvSpPr>
        <p:spPr>
          <a:xfrm>
            <a:off x="8237171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7"/>
          <p:cNvSpPr txBox="1"/>
          <p:nvPr>
            <p:ph idx="21" type="body"/>
          </p:nvPr>
        </p:nvSpPr>
        <p:spPr>
          <a:xfrm>
            <a:off x="9923253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8"/>
          <p:cNvSpPr/>
          <p:nvPr>
            <p:ph idx="2" type="pic"/>
          </p:nvPr>
        </p:nvSpPr>
        <p:spPr>
          <a:xfrm>
            <a:off x="7535119" y="1105236"/>
            <a:ext cx="3903672" cy="464753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5" name="Google Shape;35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9"/>
          <p:cNvSpPr/>
          <p:nvPr>
            <p:ph idx="2" type="pic"/>
          </p:nvPr>
        </p:nvSpPr>
        <p:spPr>
          <a:xfrm>
            <a:off x="-1" y="0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8" name="Google Shape;38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0"/>
          <p:cNvSpPr/>
          <p:nvPr>
            <p:ph idx="2" type="pic"/>
          </p:nvPr>
        </p:nvSpPr>
        <p:spPr>
          <a:xfrm>
            <a:off x="1657987" y="2600960"/>
            <a:ext cx="1327149" cy="165180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1" name="Google Shape;41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/>
          <p:nvPr>
            <p:ph idx="2" type="pic"/>
          </p:nvPr>
        </p:nvSpPr>
        <p:spPr>
          <a:xfrm>
            <a:off x="1205230" y="1558545"/>
            <a:ext cx="4685030" cy="263347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4" name="Google Shape;44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7.png"/><Relationship Id="rId5" Type="http://schemas.openxmlformats.org/officeDocument/2006/relationships/package" Target="../embeddings/Microsoft_Excel_Sheet1.xlsx"/><Relationship Id="rId6" Type="http://schemas.openxmlformats.org/officeDocument/2006/relationships/package" Target="../embeddings/Microsoft_Excel_Sheet1.xlsx"/><Relationship Id="rId7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1343025" y="2575703"/>
            <a:ext cx="950595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</a:t>
            </a:r>
            <a:endParaRPr b="1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RÉALISER LES OPÉRATIONS COMPTABLES COURANTES D’UNE TPE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/>
        </p:nvSpPr>
        <p:spPr>
          <a:xfrm>
            <a:off x="1343025" y="5470642"/>
            <a:ext cx="9319057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Candidat CANDIDAT – Création d'une EURL de prestations de services en logistique et manutention (gestion d'entrepôt, préparation de commandes, conduite de chariots élévateurs)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1343025" y="458851"/>
            <a:ext cx="9505950" cy="87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INFOS IMPORTANTES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1343025" y="1467537"/>
            <a:ext cx="9700796" cy="303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le « modèle » à remplir et à présenter devant le jury de certification.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Les slides avec un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Trebuchet MS"/>
                <a:ea typeface="Trebuchet MS"/>
                <a:cs typeface="Trebuchet MS"/>
                <a:sym typeface="Trebuchet MS"/>
              </a:rPr>
              <a:t>titre rouge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 sont des exemples pour vous aider à comprendre les attendus.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Tous les contenus doivent être abordés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bord et indicateurs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Hypothèses de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 &amp; 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 toutefois votre activité n’était pas ou peu concernée par un ou plusiers items, il s’agira de le justifier à l’oral.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3667573" y="5406579"/>
            <a:ext cx="69323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à déposer sur votre espace CréActifs 7 jours ouvrés avant la date de passage indiquée sur votre convocation.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à suivre avec un remplissage uni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148" y="522637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343025" y="1218237"/>
            <a:ext cx="730367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Création d’une entreprise individuelle (EI) de rénovation et maçonnerie générale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Vous résumez rapidement le projet sous forme de “bullet points”, pas sous forme de texte rédigé.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" name="Google Shape;7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0"/>
          <p:cNvSpPr txBox="1"/>
          <p:nvPr/>
        </p:nvSpPr>
        <p:spPr>
          <a:xfrm>
            <a:off x="1343024" y="1716675"/>
            <a:ext cx="761809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Mon projet consiste en la création d’une EURL de Prestations de Services TPE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Région Parisienne (Île-de-France)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Accompagnement administratif, numérisation des processus comptables et conseil en pilotage opérationnel pour TPE et indépendants.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Professions libérales, artisans, commerçants locaux et dirigeants de TPE (B2B).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[Zone de chalandise / rayon d’action]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[Panier moyen / fourchette de prix]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4"/>
          <p:cNvSpPr txBox="1"/>
          <p:nvPr/>
        </p:nvSpPr>
        <p:spPr>
          <a:xfrm>
            <a:off x="1343025" y="1218237"/>
            <a:ext cx="730367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schéma de votre organisation administrative. Partez des pièces comptables que vous récoltez, et indiquez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moyens de collecte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stockage &amp; classement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transmission aux tiers concernés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5"/>
          <p:cNvSpPr/>
          <p:nvPr/>
        </p:nvSpPr>
        <p:spPr>
          <a:xfrm>
            <a:off x="91440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 – Réception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5"/>
          <p:cNvSpPr/>
          <p:nvPr/>
        </p:nvSpPr>
        <p:spPr>
          <a:xfrm>
            <a:off x="4120896" y="1379473"/>
            <a:ext cx="3950208" cy="6006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 – Stockage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5"/>
          <p:cNvSpPr/>
          <p:nvPr/>
        </p:nvSpPr>
        <p:spPr>
          <a:xfrm>
            <a:off x="8150352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 – Transmission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" name="Google Shape;8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5"/>
          <p:cNvSpPr txBox="1"/>
          <p:nvPr/>
        </p:nvSpPr>
        <p:spPr>
          <a:xfrm>
            <a:off x="91440" y="2153724"/>
            <a:ext cx="3867912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Pour les clients, je réceptionne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client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Pour les fournisseurs, je réceptionne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fournisseur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5"/>
          <p:cNvSpPr txBox="1"/>
          <p:nvPr/>
        </p:nvSpPr>
        <p:spPr>
          <a:xfrm>
            <a:off x="4120896" y="2153724"/>
            <a:ext cx="3867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Chaque jour, je stocke toutes les pièces comme suit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5"/>
          <p:cNvSpPr/>
          <p:nvPr/>
        </p:nvSpPr>
        <p:spPr>
          <a:xfrm>
            <a:off x="5576316" y="2768384"/>
            <a:ext cx="1039368" cy="32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Dossiers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5"/>
          <p:cNvSpPr/>
          <p:nvPr/>
        </p:nvSpPr>
        <p:spPr>
          <a:xfrm>
            <a:off x="4120896" y="3355694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Caisse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5"/>
          <p:cNvSpPr/>
          <p:nvPr/>
        </p:nvSpPr>
        <p:spPr>
          <a:xfrm>
            <a:off x="5571744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5"/>
          <p:cNvSpPr/>
          <p:nvPr/>
        </p:nvSpPr>
        <p:spPr>
          <a:xfrm>
            <a:off x="7211569" y="3339012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Autres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5"/>
          <p:cNvSpPr txBox="1"/>
          <p:nvPr/>
        </p:nvSpPr>
        <p:spPr>
          <a:xfrm>
            <a:off x="4120896" y="3809100"/>
            <a:ext cx="1039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Remise banque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5"/>
          <p:cNvSpPr txBox="1"/>
          <p:nvPr/>
        </p:nvSpPr>
        <p:spPr>
          <a:xfrm>
            <a:off x="5382006" y="3809100"/>
            <a:ext cx="14279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5"/>
          <p:cNvSpPr txBox="1"/>
          <p:nvPr/>
        </p:nvSpPr>
        <p:spPr>
          <a:xfrm>
            <a:off x="7031736" y="3809100"/>
            <a:ext cx="14279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Loyers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Salaires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Honoraires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Travaux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5"/>
          <p:cNvCxnSpPr>
            <a:stCxn id="92" idx="1"/>
            <a:endCxn id="93" idx="0"/>
          </p:cNvCxnSpPr>
          <p:nvPr/>
        </p:nvCxnSpPr>
        <p:spPr>
          <a:xfrm flipH="1">
            <a:off x="4550616" y="2931548"/>
            <a:ext cx="1025700" cy="42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5"/>
          <p:cNvCxnSpPr>
            <a:stCxn id="95" idx="0"/>
            <a:endCxn id="92" idx="3"/>
          </p:cNvCxnSpPr>
          <p:nvPr/>
        </p:nvCxnSpPr>
        <p:spPr>
          <a:xfrm rot="10800000">
            <a:off x="6615637" y="2931612"/>
            <a:ext cx="1025700" cy="4074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5"/>
          <p:cNvCxnSpPr>
            <a:stCxn id="102" idx="0"/>
            <a:endCxn id="92" idx="2"/>
          </p:cNvCxnSpPr>
          <p:nvPr/>
        </p:nvCxnSpPr>
        <p:spPr>
          <a:xfrm rot="10800000">
            <a:off x="6096001" y="3094813"/>
            <a:ext cx="0" cy="24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5"/>
          <p:cNvCxnSpPr>
            <a:stCxn id="93" idx="1"/>
            <a:endCxn id="96" idx="1"/>
          </p:cNvCxnSpPr>
          <p:nvPr/>
        </p:nvCxnSpPr>
        <p:spPr>
          <a:xfrm>
            <a:off x="4120896" y="3518858"/>
            <a:ext cx="600" cy="7056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5"/>
          <p:cNvCxnSpPr>
            <a:stCxn id="94" idx="1"/>
            <a:endCxn id="97" idx="1"/>
          </p:cNvCxnSpPr>
          <p:nvPr/>
        </p:nvCxnSpPr>
        <p:spPr>
          <a:xfrm flipH="1">
            <a:off x="5382144" y="3502177"/>
            <a:ext cx="189600" cy="630000"/>
          </a:xfrm>
          <a:prstGeom prst="bentConnector3">
            <a:avLst>
              <a:gd fmla="val 177237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5"/>
          <p:cNvCxnSpPr>
            <a:stCxn id="95" idx="1"/>
            <a:endCxn id="98" idx="1"/>
          </p:cNvCxnSpPr>
          <p:nvPr/>
        </p:nvCxnSpPr>
        <p:spPr>
          <a:xfrm flipH="1">
            <a:off x="7031869" y="3502176"/>
            <a:ext cx="179700" cy="722400"/>
          </a:xfrm>
          <a:prstGeom prst="bentConnector3">
            <a:avLst>
              <a:gd fmla="val 227286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5"/>
          <p:cNvSpPr/>
          <p:nvPr/>
        </p:nvSpPr>
        <p:spPr>
          <a:xfrm>
            <a:off x="5505542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5"/>
          <p:cNvSpPr txBox="1"/>
          <p:nvPr/>
        </p:nvSpPr>
        <p:spPr>
          <a:xfrm>
            <a:off x="8150352" y="2154107"/>
            <a:ext cx="38679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J’adresse mes documents à mon comptable Mensuelle par Numérique (logiciel de facturation QuickBooks).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5"/>
          <p:cNvSpPr/>
          <p:nvPr/>
        </p:nvSpPr>
        <p:spPr>
          <a:xfrm>
            <a:off x="91440" y="5344551"/>
            <a:ext cx="1673352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+ Mes logiciels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5"/>
          <p:cNvSpPr/>
          <p:nvPr/>
        </p:nvSpPr>
        <p:spPr>
          <a:xfrm>
            <a:off x="2334768" y="5051466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1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5"/>
          <p:cNvSpPr/>
          <p:nvPr/>
        </p:nvSpPr>
        <p:spPr>
          <a:xfrm>
            <a:off x="2334768" y="5481703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2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5"/>
          <p:cNvSpPr/>
          <p:nvPr/>
        </p:nvSpPr>
        <p:spPr>
          <a:xfrm>
            <a:off x="2334768" y="5911940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3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55"/>
          <p:cNvCxnSpPr>
            <a:stCxn id="108" idx="1"/>
            <a:endCxn id="107" idx="3"/>
          </p:cNvCxnSpPr>
          <p:nvPr/>
        </p:nvCxnSpPr>
        <p:spPr>
          <a:xfrm flipH="1">
            <a:off x="1764768" y="5214630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55"/>
          <p:cNvCxnSpPr>
            <a:stCxn id="110" idx="1"/>
            <a:endCxn id="107" idx="3"/>
          </p:cNvCxnSpPr>
          <p:nvPr/>
        </p:nvCxnSpPr>
        <p:spPr>
          <a:xfrm rot="10800000">
            <a:off x="1764768" y="5644904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55"/>
          <p:cNvCxnSpPr>
            <a:stCxn id="109" idx="1"/>
            <a:endCxn id="107" idx="3"/>
          </p:cNvCxnSpPr>
          <p:nvPr/>
        </p:nvCxnSpPr>
        <p:spPr>
          <a:xfrm rot="10800000">
            <a:off x="1764768" y="5644867"/>
            <a:ext cx="570000" cy="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6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" name="Google Shape;120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6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22" name="Google Shape;122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7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" name="Google Shape;129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7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31" name="Google Shape;131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57"/>
          <p:cNvGraphicFramePr/>
          <p:nvPr/>
        </p:nvGraphicFramePr>
        <p:xfrm>
          <a:off x="1343024" y="190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{38F502C8-C8CE-44E0-969B-E71FF784E0B8}</a:tableStyleId>
              </a:tblPr>
              <a:tblGrid>
                <a:gridCol w="2625475"/>
                <a:gridCol w="1438525"/>
                <a:gridCol w="1332100"/>
                <a:gridCol w="1362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[Nom entreprise / secteur]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Heures d'accompagnement facturées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Taux de satisfaction des clients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95%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98%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96%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Nombre de nouveaux clients acquis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Rendez-vous qualifiés obtenus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 mensuel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12 400 €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14 800 €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16 500 €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Evolutions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+19.3%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+11.5%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3" name="Google Shape;133;p157"/>
          <p:cNvSpPr txBox="1"/>
          <p:nvPr/>
        </p:nvSpPr>
        <p:spPr>
          <a:xfrm>
            <a:off x="1343024" y="4828032"/>
            <a:ext cx="66671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Tendance très positive tirée par l'acquisition constante de nouveaux clients et la fidélisation par des contrats récurrents mensuels.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8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9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159"/>
          <p:cNvGraphicFramePr/>
          <p:nvPr/>
        </p:nvGraphicFramePr>
        <p:xfrm>
          <a:off x="1343024" y="2030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{A6A281FB-B9B5-42AD-BB02-19F76F960BCD}</a:tableStyleId>
              </a:tblPr>
              <a:tblGrid>
                <a:gridCol w="3410900"/>
                <a:gridCol w="1136975"/>
                <a:gridCol w="1136975"/>
                <a:gridCol w="1136975"/>
              </a:tblGrid>
              <a:tr h="3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8575" marL="28575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N1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N2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N3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75 €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80 €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85 €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1 000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1 200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1 400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75 000 €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96 000 €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119 000 €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150 €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160 €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170 €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300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350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400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2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45 000 €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56 000 €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68 000 €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200 €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210 €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220 €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150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180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200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3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30 000 €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37 800 €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44 000 €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Total CA prestation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150 000 €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189 800 €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231 000 €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0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0"/>
          <p:cNvSpPr txBox="1"/>
          <p:nvPr/>
        </p:nvSpPr>
        <p:spPr>
          <a:xfrm>
            <a:off x="1866244" y="6140645"/>
            <a:ext cx="74683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Obectif : montrer que vous n’allez pas vous retrouver avec une trésorerie négative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57" name="Google Shape;157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1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1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61"/>
          <p:cNvGraphicFramePr/>
          <p:nvPr/>
        </p:nvGraphicFramePr>
        <p:xfrm>
          <a:off x="2281238" y="1628775"/>
          <a:ext cx="7629525" cy="4962525"/>
        </p:xfrm>
        <a:graphic>
          <a:graphicData uri="http://schemas.openxmlformats.org/presentationml/2006/ole">
            <mc:AlternateContent>
              <mc:Choice Requires="v">
                <p:oleObj r:id="rId5" imgH="4962525" imgW="7629525" progId="Excel.Sheet.12" spid="_x0000_s1">
                  <p:embed/>
                </p:oleObj>
              </mc:Choice>
              <mc:Fallback>
                <p:oleObj r:id="rId6" imgH="4962525" imgW="7629525" progId="Excel.Sheet.12">
                  <p:embed/>
                  <p:pic>
                    <p:nvPicPr>
                      <p:cNvPr id="165" name="Google Shape;165;p16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1238" y="1628775"/>
                        <a:ext cx="7629525" cy="496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2"/>
          <p:cNvSpPr txBox="1"/>
          <p:nvPr/>
        </p:nvSpPr>
        <p:spPr>
          <a:xfrm>
            <a:off x="1343024" y="954954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2"/>
          <p:cNvSpPr txBox="1"/>
          <p:nvPr/>
        </p:nvSpPr>
        <p:spPr>
          <a:xfrm>
            <a:off x="1343024" y="198160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2"/>
          <p:cNvSpPr txBox="1"/>
          <p:nvPr/>
        </p:nvSpPr>
        <p:spPr>
          <a:xfrm>
            <a:off x="1343024" y="1499382"/>
            <a:ext cx="9952220" cy="534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le cadre du BFR, les notions de stock, créances clients et dettes fournisseurs peuvent être calculer de manière prévisionnelle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Stock marchandises, matières premières…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initial : renseigner le stock de départ (au démarrage de l’activité)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la colonne année 1 : achats de l’année / 360 x délai moyen d’écoulement du stock pratiqué par le secteur d’activité en nb de jour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Exemple : les achats de l’année sont à 45 000€ et le délai moyen d’écoulement de stock est de 30 jours. </a:t>
            </a:r>
            <a:r>
              <a:rPr b="0" i="0" lang="en-US" sz="16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NB : Pour obtenir les achats de l’année, à partir du CA prévisionnel, il faut faire : CA x taux d’achat propre au secteur d’activité ou CA x (1 – taux de marge brute propre au secteur d’activité).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Stock marchandises = (45 000 / 360 * 30) =  3750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Créances clients </a:t>
            </a: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année 1 :  CA TTC / 360 x délai moyen de règlement client en nb de jours pratiqué par le secteur d’activité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Dettes fournisseurs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- Dans la colonne année 1 : (achats marchandises + matières 1ères + montant sous-traitance) TTC / 360 x délai moyen de paiement fournisseur en nb de jours pratiqué par le secteur d’activité.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3"/>
          <p:cNvSpPr txBox="1"/>
          <p:nvPr/>
        </p:nvSpPr>
        <p:spPr>
          <a:xfrm>
            <a:off x="1343025" y="1218237"/>
            <a:ext cx="7303670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Montrer ici un exemple de facture ou de devis et indiquer en quoi il est conforme vis à vis des mentions obligatoires.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0" name="Google Shape;18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6" name="Google Shape;186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6280" y="1895336"/>
            <a:ext cx="2990088" cy="414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4"/>
          <p:cNvSpPr/>
          <p:nvPr/>
        </p:nvSpPr>
        <p:spPr>
          <a:xfrm>
            <a:off x="4343400" y="1941455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4"/>
          <p:cNvSpPr/>
          <p:nvPr/>
        </p:nvSpPr>
        <p:spPr>
          <a:xfrm>
            <a:off x="4700000" y="4031672"/>
            <a:ext cx="2500000" cy="4987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4"/>
          <p:cNvSpPr/>
          <p:nvPr/>
        </p:nvSpPr>
        <p:spPr>
          <a:xfrm>
            <a:off x="6319134" y="2473147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4"/>
          <p:cNvSpPr/>
          <p:nvPr/>
        </p:nvSpPr>
        <p:spPr>
          <a:xfrm>
            <a:off x="2121408" y="2293040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Numéro de facture : format libre (ex: FAC-AAAA-NNN)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4"/>
          <p:cNvSpPr/>
          <p:nvPr/>
        </p:nvSpPr>
        <p:spPr>
          <a:xfrm>
            <a:off x="7329546" y="2852623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Date d’émission + date d’échéance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4"/>
          <p:cNvSpPr/>
          <p:nvPr/>
        </p:nvSpPr>
        <p:spPr>
          <a:xfrm>
            <a:off x="2304288" y="4834815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SIRET + TVA intracom + conditions de règlement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5"/>
          <p:cNvSpPr txBox="1"/>
          <p:nvPr/>
        </p:nvSpPr>
        <p:spPr>
          <a:xfrm>
            <a:off x="1343024" y="1218237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de recouvrement BTP : relance progressive avec escalade vers huissier si nécessaire.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6" name="Google Shape;206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66"/>
          <p:cNvGrpSpPr/>
          <p:nvPr/>
        </p:nvGrpSpPr>
        <p:grpSpPr>
          <a:xfrm>
            <a:off x="1556885" y="2482007"/>
            <a:ext cx="9078229" cy="1893984"/>
            <a:chOff x="4437" y="96778"/>
            <a:chExt cx="9078229" cy="1893984"/>
          </a:xfrm>
        </p:grpSpPr>
        <p:sp>
          <p:nvSpPr>
            <p:cNvPr id="208" name="Google Shape;208;p166"/>
            <p:cNvSpPr/>
            <p:nvPr/>
          </p:nvSpPr>
          <p:spPr>
            <a:xfrm>
              <a:off x="443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6"/>
            <p:cNvSpPr txBox="1"/>
            <p:nvPr/>
          </p:nvSpPr>
          <p:spPr>
            <a:xfrm>
              <a:off x="4472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 client ne paie pas à échéance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6"/>
            <p:cNvSpPr/>
            <p:nvPr/>
          </p:nvSpPr>
          <p:spPr>
            <a:xfrm>
              <a:off x="151747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6"/>
            <p:cNvSpPr txBox="1"/>
            <p:nvPr/>
          </p:nvSpPr>
          <p:spPr>
            <a:xfrm>
              <a:off x="151747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6"/>
            <p:cNvSpPr/>
            <p:nvPr/>
          </p:nvSpPr>
          <p:spPr>
            <a:xfrm>
              <a:off x="193012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6"/>
            <p:cNvSpPr txBox="1"/>
            <p:nvPr/>
          </p:nvSpPr>
          <p:spPr>
            <a:xfrm>
              <a:off x="197040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+1 jour : Mail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66"/>
            <p:cNvSpPr/>
            <p:nvPr/>
          </p:nvSpPr>
          <p:spPr>
            <a:xfrm>
              <a:off x="344316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66"/>
            <p:cNvSpPr txBox="1"/>
            <p:nvPr/>
          </p:nvSpPr>
          <p:spPr>
            <a:xfrm>
              <a:off x="344316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6"/>
            <p:cNvSpPr/>
            <p:nvPr/>
          </p:nvSpPr>
          <p:spPr>
            <a:xfrm>
              <a:off x="385580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66"/>
            <p:cNvSpPr txBox="1"/>
            <p:nvPr/>
          </p:nvSpPr>
          <p:spPr>
            <a:xfrm>
              <a:off x="389609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+3 jours  : Mail de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66"/>
            <p:cNvSpPr/>
            <p:nvPr/>
          </p:nvSpPr>
          <p:spPr>
            <a:xfrm>
              <a:off x="536884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6"/>
            <p:cNvSpPr txBox="1"/>
            <p:nvPr/>
          </p:nvSpPr>
          <p:spPr>
            <a:xfrm>
              <a:off x="536884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6"/>
            <p:cNvSpPr/>
            <p:nvPr/>
          </p:nvSpPr>
          <p:spPr>
            <a:xfrm>
              <a:off x="578149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6"/>
            <p:cNvSpPr txBox="1"/>
            <p:nvPr/>
          </p:nvSpPr>
          <p:spPr>
            <a:xfrm>
              <a:off x="582177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+ 7 jours : Dernière relance avant mise en demeure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66"/>
            <p:cNvSpPr/>
            <p:nvPr/>
          </p:nvSpPr>
          <p:spPr>
            <a:xfrm>
              <a:off x="729453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6"/>
            <p:cNvSpPr txBox="1"/>
            <p:nvPr/>
          </p:nvSpPr>
          <p:spPr>
            <a:xfrm>
              <a:off x="729453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6"/>
            <p:cNvSpPr/>
            <p:nvPr/>
          </p:nvSpPr>
          <p:spPr>
            <a:xfrm>
              <a:off x="770717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6"/>
            <p:cNvSpPr txBox="1"/>
            <p:nvPr/>
          </p:nvSpPr>
          <p:spPr>
            <a:xfrm>
              <a:off x="774746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+ 10 jours : Mise en demeure avec accusé de réception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7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gestion des approvisionnements matériaux : ciment, carrelage, isolants, enduits.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8" name="Google Shape;238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168"/>
          <p:cNvGraphicFramePr/>
          <p:nvPr/>
        </p:nvGraphicFramePr>
        <p:xfrm>
          <a:off x="58318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Référence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Entrées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Sorties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initial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Mouvements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final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mini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Remarques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Licences logicielles (unités)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+ 5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15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Renouvellements mensuels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Fournitures de bureau (packs)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8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5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+ 2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7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3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Consommation interne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Documentation et supports imprimés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50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30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20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+ 20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40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Kit d'accueil clients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9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Suivi mensuel des écarts CA réalisé vs CA prévisionnel. Analyse des charges variables et fixes.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6" name="Google Shape;246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2" name="Google Shape;25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170"/>
          <p:cNvGraphicFramePr/>
          <p:nvPr/>
        </p:nvGraphicFramePr>
        <p:xfrm>
          <a:off x="134302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725700"/>
                <a:gridCol w="1725700"/>
                <a:gridCol w="1725700"/>
                <a:gridCol w="1725700"/>
                <a:gridCol w="1725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Indicateur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Prévu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Réalisé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Ecart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Actions à mettre en place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12 000 €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12 400 €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+ 400 €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Continuer sur le même rythme de facturation et stabiliser l'encours clients.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Achats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1 500 €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1 850 €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+ 350 €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Contrôler les frais de déplacement et d'abonnements logiciels non indispensables.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MARGE BRUTE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10 500 €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10 550 €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+ 50 €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Maintien de la performance opérationnelle.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Rendez-vous qualifiés obtenus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8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8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0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Augmenter le budget marketing digital pour générer de nouveaux leads le mois prochain.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4" name="Google Shape;254;p170"/>
          <p:cNvSpPr txBox="1"/>
          <p:nvPr/>
        </p:nvSpPr>
        <p:spPr>
          <a:xfrm>
            <a:off x="1343024" y="4602722"/>
            <a:ext cx="995222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Il faudra renseigner la colonne prévu uniquement, mais indiquer les postes les plus susceptibles de connaître des écarts (selon votre connaissance de votre secteur d’activité) et les pistes d’actions potentielles à envisager.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Personnalisé 1">
      <a:dk1>
        <a:srgbClr val="3EB9BC"/>
      </a:dk1>
      <a:lt1>
        <a:srgbClr val="FFFFFF"/>
      </a:lt1>
      <a:dk2>
        <a:srgbClr val="3EB9BC"/>
      </a:dk2>
      <a:lt2>
        <a:srgbClr val="F8F8F8"/>
      </a:lt2>
      <a:accent1>
        <a:srgbClr val="3EB9BC"/>
      </a:accent1>
      <a:accent2>
        <a:srgbClr val="FEE042"/>
      </a:accent2>
      <a:accent3>
        <a:srgbClr val="F6F6F6"/>
      </a:accent3>
      <a:accent4>
        <a:srgbClr val="3EB9BC"/>
      </a:accent4>
      <a:accent5>
        <a:srgbClr val="3EB9BC"/>
      </a:accent5>
      <a:accent6>
        <a:srgbClr val="3EB9BC"/>
      </a:accent6>
      <a:hlink>
        <a:srgbClr val="3EB9BC"/>
      </a:hlink>
      <a:folHlink>
        <a:srgbClr val="FEE0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2018-11-08T16:43:29Z</dcterms:created>
  <dc:creator>Jerome BESTEL;Slidor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0x010100862D99AF586C7E4FAA7E9B42C2C561B8</vt:lpwstr>
  </property>
  <property fmtid="{D5CDD505-2E9C-101B-9397-08002B2CF9AE}" pid="3" name="MediaServiceImageTags">
    <vt:lpwstr/>
  </property>
</Properties>
</file>